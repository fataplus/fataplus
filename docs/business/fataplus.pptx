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1"/>
    <p:sldId id="257" r:id="rId12"/>
    <p:sldId id="258" r:id="rId13"/>
    <p:sldId id="259" r:id="rId14"/>
    <p:sldId id="260" r:id="rId15"/>
    <p:sldId id="261" r:id="rId16"/>
    <p:sldId id="262" r:id="rId17"/>
  </p:sldIdLst>
  <p:sldSz cx="18288000" cy="10287000"/>
  <p:notesSz cx="6858000" cy="9144000"/>
  <p:embeddedFontLst>
    <p:embeddedFont>
      <p:font typeface="Tenor Sans" charset="1" panose="02000000000000000000"/>
      <p:regular r:id="rId6"/>
    </p:embeddedFont>
    <p:embeddedFont>
      <p:font typeface="Arimo" charset="1" panose="020B0604020202020204"/>
      <p:regular r:id="rId7"/>
    </p:embeddedFont>
    <p:embeddedFont>
      <p:font typeface="Arimo Bold" charset="1" panose="020B0704020202020204"/>
      <p:regular r:id="rId8"/>
    </p:embeddedFont>
    <p:embeddedFont>
      <p:font typeface="Arimo Italics" charset="1" panose="020B0604020202090204"/>
      <p:regular r:id="rId9"/>
    </p:embeddedFont>
    <p:embeddedFont>
      <p:font typeface="Arimo Bold Italics" charset="1" panose="020B0704020202090204"/>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slides/slide1.xml" Type="http://schemas.openxmlformats.org/officeDocument/2006/relationships/slide"/><Relationship Id="rId12" Target="slides/slide2.xml" Type="http://schemas.openxmlformats.org/officeDocument/2006/relationships/slide"/><Relationship Id="rId13" Target="slides/slide3.xml" Type="http://schemas.openxmlformats.org/officeDocument/2006/relationships/slide"/><Relationship Id="rId14" Target="slides/slide4.xml" Type="http://schemas.openxmlformats.org/officeDocument/2006/relationships/slide"/><Relationship Id="rId15" Target="slides/slide5.xml" Type="http://schemas.openxmlformats.org/officeDocument/2006/relationships/slide"/><Relationship Id="rId16" Target="slides/slide6.xml" Type="http://schemas.openxmlformats.org/officeDocument/2006/relationships/slide"/><Relationship Id="rId17"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8.png" Type="http://schemas.openxmlformats.org/officeDocument/2006/relationships/image"/><Relationship Id="rId13" Target="../media/image17.pn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16"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22.png" Type="http://schemas.openxmlformats.org/officeDocument/2006/relationships/image"/><Relationship Id="rId16" Target="../media/image23.svg" Type="http://schemas.openxmlformats.org/officeDocument/2006/relationships/image"/><Relationship Id="rId17" Target="../media/image24.jpeg" Type="http://schemas.openxmlformats.org/officeDocument/2006/relationships/image"/><Relationship Id="rId18" Target="../media/image2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E2714"/>
        </a:solidFill>
      </p:bgPr>
    </p:bg>
    <p:spTree>
      <p:nvGrpSpPr>
        <p:cNvPr id="1" name=""/>
        <p:cNvGrpSpPr/>
        <p:nvPr/>
      </p:nvGrpSpPr>
      <p:grpSpPr>
        <a:xfrm>
          <a:off x="0" y="0"/>
          <a:ext cx="0" cy="0"/>
          <a:chOff x="0" y="0"/>
          <a:chExt cx="0" cy="0"/>
        </a:xfrm>
      </p:grpSpPr>
      <p:sp>
        <p:nvSpPr>
          <p:cNvPr name="Freeform 2" id="2"/>
          <p:cNvSpPr/>
          <p:nvPr/>
        </p:nvSpPr>
        <p:spPr>
          <a:xfrm flipH="false" flipV="false" rot="0">
            <a:off x="2155896" y="8110162"/>
            <a:ext cx="2034354" cy="2176838"/>
          </a:xfrm>
          <a:custGeom>
            <a:avLst/>
            <a:gdLst/>
            <a:ahLst/>
            <a:cxnLst/>
            <a:rect r="r" b="b" t="t" l="l"/>
            <a:pathLst>
              <a:path h="2176838" w="2034354">
                <a:moveTo>
                  <a:pt x="0" y="0"/>
                </a:moveTo>
                <a:lnTo>
                  <a:pt x="2034354" y="0"/>
                </a:lnTo>
                <a:lnTo>
                  <a:pt x="2034354" y="2176838"/>
                </a:lnTo>
                <a:lnTo>
                  <a:pt x="0" y="2176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41417" y="8110162"/>
            <a:ext cx="2034354" cy="2176838"/>
          </a:xfrm>
          <a:custGeom>
            <a:avLst/>
            <a:gdLst/>
            <a:ahLst/>
            <a:cxnLst/>
            <a:rect r="r" b="b" t="t" l="l"/>
            <a:pathLst>
              <a:path h="2176838" w="2034354">
                <a:moveTo>
                  <a:pt x="0" y="0"/>
                </a:moveTo>
                <a:lnTo>
                  <a:pt x="2034354" y="0"/>
                </a:lnTo>
                <a:lnTo>
                  <a:pt x="2034354" y="2176838"/>
                </a:lnTo>
                <a:lnTo>
                  <a:pt x="0" y="2176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501604"/>
            <a:ext cx="2182738" cy="2785396"/>
          </a:xfrm>
          <a:custGeom>
            <a:avLst/>
            <a:gdLst/>
            <a:ahLst/>
            <a:cxnLst/>
            <a:rect r="r" b="b" t="t" l="l"/>
            <a:pathLst>
              <a:path h="2785396" w="2182738">
                <a:moveTo>
                  <a:pt x="0" y="0"/>
                </a:moveTo>
                <a:lnTo>
                  <a:pt x="2182738" y="0"/>
                </a:lnTo>
                <a:lnTo>
                  <a:pt x="2182738" y="2785396"/>
                </a:lnTo>
                <a:lnTo>
                  <a:pt x="0" y="2785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075771" y="7501604"/>
            <a:ext cx="2182738" cy="2785396"/>
          </a:xfrm>
          <a:custGeom>
            <a:avLst/>
            <a:gdLst/>
            <a:ahLst/>
            <a:cxnLst/>
            <a:rect r="r" b="b" t="t" l="l"/>
            <a:pathLst>
              <a:path h="2785396" w="2182738">
                <a:moveTo>
                  <a:pt x="0" y="0"/>
                </a:moveTo>
                <a:lnTo>
                  <a:pt x="2182738" y="0"/>
                </a:lnTo>
                <a:lnTo>
                  <a:pt x="2182738" y="2785396"/>
                </a:lnTo>
                <a:lnTo>
                  <a:pt x="0" y="2785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100" y="2160272"/>
            <a:ext cx="2145187" cy="1443126"/>
          </a:xfrm>
          <a:custGeom>
            <a:avLst/>
            <a:gdLst/>
            <a:ahLst/>
            <a:cxnLst/>
            <a:rect r="r" b="b" t="t" l="l"/>
            <a:pathLst>
              <a:path h="1443126" w="2145187">
                <a:moveTo>
                  <a:pt x="0" y="0"/>
                </a:moveTo>
                <a:lnTo>
                  <a:pt x="2145187" y="0"/>
                </a:lnTo>
                <a:lnTo>
                  <a:pt x="2145187" y="1443126"/>
                </a:lnTo>
                <a:lnTo>
                  <a:pt x="0" y="1443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142813" y="6440720"/>
            <a:ext cx="2145187" cy="1443126"/>
          </a:xfrm>
          <a:custGeom>
            <a:avLst/>
            <a:gdLst/>
            <a:ahLst/>
            <a:cxnLst/>
            <a:rect r="r" b="b" t="t" l="l"/>
            <a:pathLst>
              <a:path h="1443126" w="2145187">
                <a:moveTo>
                  <a:pt x="0" y="0"/>
                </a:moveTo>
                <a:lnTo>
                  <a:pt x="2145187" y="0"/>
                </a:lnTo>
                <a:lnTo>
                  <a:pt x="2145187" y="1443126"/>
                </a:lnTo>
                <a:lnTo>
                  <a:pt x="0" y="1443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0800000">
            <a:off x="18775" y="-190033"/>
            <a:ext cx="2145187" cy="2350305"/>
          </a:xfrm>
          <a:custGeom>
            <a:avLst/>
            <a:gdLst/>
            <a:ahLst/>
            <a:cxnLst/>
            <a:rect r="r" b="b" t="t" l="l"/>
            <a:pathLst>
              <a:path h="2350305" w="2145187">
                <a:moveTo>
                  <a:pt x="0" y="0"/>
                </a:moveTo>
                <a:lnTo>
                  <a:pt x="2145188" y="0"/>
                </a:lnTo>
                <a:lnTo>
                  <a:pt x="2145188" y="2350305"/>
                </a:lnTo>
                <a:lnTo>
                  <a:pt x="0" y="23503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10800000">
            <a:off x="16142813" y="7883846"/>
            <a:ext cx="2145187" cy="2350305"/>
          </a:xfrm>
          <a:custGeom>
            <a:avLst/>
            <a:gdLst/>
            <a:ahLst/>
            <a:cxnLst/>
            <a:rect r="r" b="b" t="t" l="l"/>
            <a:pathLst>
              <a:path h="2350305" w="2145187">
                <a:moveTo>
                  <a:pt x="0" y="0"/>
                </a:moveTo>
                <a:lnTo>
                  <a:pt x="2145187" y="0"/>
                </a:lnTo>
                <a:lnTo>
                  <a:pt x="2145187" y="2350305"/>
                </a:lnTo>
                <a:lnTo>
                  <a:pt x="0" y="23503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0800000">
            <a:off x="38100" y="3708173"/>
            <a:ext cx="2071904" cy="3687856"/>
          </a:xfrm>
          <a:custGeom>
            <a:avLst/>
            <a:gdLst/>
            <a:ahLst/>
            <a:cxnLst/>
            <a:rect r="r" b="b" t="t" l="l"/>
            <a:pathLst>
              <a:path h="3687856" w="2071904">
                <a:moveTo>
                  <a:pt x="0" y="0"/>
                </a:moveTo>
                <a:lnTo>
                  <a:pt x="2071904" y="0"/>
                </a:lnTo>
                <a:lnTo>
                  <a:pt x="2071904" y="3687856"/>
                </a:lnTo>
                <a:lnTo>
                  <a:pt x="0" y="36878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6255771" y="2594439"/>
            <a:ext cx="2007059" cy="3846280"/>
          </a:xfrm>
          <a:custGeom>
            <a:avLst/>
            <a:gdLst/>
            <a:ahLst/>
            <a:cxnLst/>
            <a:rect r="r" b="b" t="t" l="l"/>
            <a:pathLst>
              <a:path h="3846280" w="2007059">
                <a:moveTo>
                  <a:pt x="0" y="0"/>
                </a:moveTo>
                <a:lnTo>
                  <a:pt x="2007058" y="0"/>
                </a:lnTo>
                <a:lnTo>
                  <a:pt x="2007058" y="3846281"/>
                </a:lnTo>
                <a:lnTo>
                  <a:pt x="0" y="38462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2189051" y="33544"/>
            <a:ext cx="2001200" cy="1731947"/>
          </a:xfrm>
          <a:custGeom>
            <a:avLst/>
            <a:gdLst/>
            <a:ahLst/>
            <a:cxnLst/>
            <a:rect r="r" b="b" t="t" l="l"/>
            <a:pathLst>
              <a:path h="1731947" w="2001200">
                <a:moveTo>
                  <a:pt x="0" y="0"/>
                </a:moveTo>
                <a:lnTo>
                  <a:pt x="2001199" y="0"/>
                </a:lnTo>
                <a:lnTo>
                  <a:pt x="2001199" y="1731947"/>
                </a:lnTo>
                <a:lnTo>
                  <a:pt x="0" y="173194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5400000">
            <a:off x="2689351" y="1265191"/>
            <a:ext cx="1000600" cy="2001200"/>
          </a:xfrm>
          <a:custGeom>
            <a:avLst/>
            <a:gdLst/>
            <a:ahLst/>
            <a:cxnLst/>
            <a:rect r="r" b="b" t="t" l="l"/>
            <a:pathLst>
              <a:path h="2001200" w="1000600">
                <a:moveTo>
                  <a:pt x="0" y="0"/>
                </a:moveTo>
                <a:lnTo>
                  <a:pt x="1000599" y="0"/>
                </a:lnTo>
                <a:lnTo>
                  <a:pt x="1000599" y="2001200"/>
                </a:lnTo>
                <a:lnTo>
                  <a:pt x="0" y="20012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5400000">
            <a:off x="2881870" y="7210400"/>
            <a:ext cx="582407" cy="1164814"/>
          </a:xfrm>
          <a:custGeom>
            <a:avLst/>
            <a:gdLst/>
            <a:ahLst/>
            <a:cxnLst/>
            <a:rect r="r" b="b" t="t" l="l"/>
            <a:pathLst>
              <a:path h="1164814" w="582407">
                <a:moveTo>
                  <a:pt x="0" y="0"/>
                </a:moveTo>
                <a:lnTo>
                  <a:pt x="582407" y="0"/>
                </a:lnTo>
                <a:lnTo>
                  <a:pt x="582407" y="1164815"/>
                </a:lnTo>
                <a:lnTo>
                  <a:pt x="0" y="116481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5" id="15"/>
          <p:cNvSpPr/>
          <p:nvPr/>
        </p:nvSpPr>
        <p:spPr>
          <a:xfrm flipH="false" flipV="false" rot="5400000">
            <a:off x="12767390" y="7210400"/>
            <a:ext cx="582407" cy="1164814"/>
          </a:xfrm>
          <a:custGeom>
            <a:avLst/>
            <a:gdLst/>
            <a:ahLst/>
            <a:cxnLst/>
            <a:rect r="r" b="b" t="t" l="l"/>
            <a:pathLst>
              <a:path h="1164814" w="582407">
                <a:moveTo>
                  <a:pt x="0" y="0"/>
                </a:moveTo>
                <a:lnTo>
                  <a:pt x="582407" y="0"/>
                </a:lnTo>
                <a:lnTo>
                  <a:pt x="582407" y="1164815"/>
                </a:lnTo>
                <a:lnTo>
                  <a:pt x="0" y="116481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7295769" y="4661120"/>
            <a:ext cx="3696461" cy="871728"/>
          </a:xfrm>
          <a:custGeom>
            <a:avLst/>
            <a:gdLst/>
            <a:ahLst/>
            <a:cxnLst/>
            <a:rect r="r" b="b" t="t" l="l"/>
            <a:pathLst>
              <a:path h="871728" w="3696461">
                <a:moveTo>
                  <a:pt x="0" y="0"/>
                </a:moveTo>
                <a:lnTo>
                  <a:pt x="3696462" y="0"/>
                </a:lnTo>
                <a:lnTo>
                  <a:pt x="3696462" y="871728"/>
                </a:lnTo>
                <a:lnTo>
                  <a:pt x="0" y="871728"/>
                </a:lnTo>
                <a:lnTo>
                  <a:pt x="0" y="0"/>
                </a:lnTo>
                <a:close/>
              </a:path>
            </a:pathLst>
          </a:custGeom>
          <a:blipFill>
            <a:blip r:embed="rId18"/>
            <a:stretch>
              <a:fillRect l="0" t="0" r="0" b="0"/>
            </a:stretch>
          </a:blipFill>
        </p:spPr>
      </p:sp>
      <p:sp>
        <p:nvSpPr>
          <p:cNvPr name="TextBox 17" id="17"/>
          <p:cNvSpPr txBox="true"/>
          <p:nvPr/>
        </p:nvSpPr>
        <p:spPr>
          <a:xfrm rot="0">
            <a:off x="7852726" y="8864463"/>
            <a:ext cx="2582547" cy="668235"/>
          </a:xfrm>
          <a:prstGeom prst="rect">
            <a:avLst/>
          </a:prstGeom>
        </p:spPr>
        <p:txBody>
          <a:bodyPr anchor="t" rtlCol="false" tIns="0" lIns="0" bIns="0" rIns="0">
            <a:spAutoFit/>
          </a:bodyPr>
          <a:lstStyle/>
          <a:p>
            <a:pPr algn="ctr">
              <a:lnSpc>
                <a:spcPts val="2610"/>
              </a:lnSpc>
            </a:pPr>
            <a:r>
              <a:rPr lang="en-US" sz="2309">
                <a:solidFill>
                  <a:srgbClr val="7DA03C"/>
                </a:solidFill>
                <a:latin typeface="Tenor Sans"/>
              </a:rPr>
              <a:t>Fenohery Fanomezanirina</a:t>
            </a:r>
          </a:p>
        </p:txBody>
      </p:sp>
      <p:sp>
        <p:nvSpPr>
          <p:cNvPr name="TextBox 18" id="18"/>
          <p:cNvSpPr txBox="true"/>
          <p:nvPr/>
        </p:nvSpPr>
        <p:spPr>
          <a:xfrm rot="0">
            <a:off x="8080695" y="985119"/>
            <a:ext cx="2126611" cy="344385"/>
          </a:xfrm>
          <a:prstGeom prst="rect">
            <a:avLst/>
          </a:prstGeom>
        </p:spPr>
        <p:txBody>
          <a:bodyPr anchor="t" rtlCol="false" tIns="0" lIns="0" bIns="0" rIns="0">
            <a:spAutoFit/>
          </a:bodyPr>
          <a:lstStyle/>
          <a:p>
            <a:pPr algn="ctr">
              <a:lnSpc>
                <a:spcPts val="2610"/>
              </a:lnSpc>
            </a:pPr>
            <a:r>
              <a:rPr lang="en-US" sz="2309">
                <a:solidFill>
                  <a:srgbClr val="7DA03C"/>
                </a:solidFill>
                <a:latin typeface="Tenor Sans"/>
              </a:rPr>
              <a:t>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E2714"/>
        </a:solidFill>
      </p:bgPr>
    </p:bg>
    <p:spTree>
      <p:nvGrpSpPr>
        <p:cNvPr id="1" name=""/>
        <p:cNvGrpSpPr/>
        <p:nvPr/>
      </p:nvGrpSpPr>
      <p:grpSpPr>
        <a:xfrm>
          <a:off x="0" y="0"/>
          <a:ext cx="0" cy="0"/>
          <a:chOff x="0" y="0"/>
          <a:chExt cx="0" cy="0"/>
        </a:xfrm>
      </p:grpSpPr>
      <p:sp>
        <p:nvSpPr>
          <p:cNvPr name="TextBox 2" id="2"/>
          <p:cNvSpPr txBox="true"/>
          <p:nvPr/>
        </p:nvSpPr>
        <p:spPr>
          <a:xfrm rot="0">
            <a:off x="1028700" y="904875"/>
            <a:ext cx="5161795" cy="1036762"/>
          </a:xfrm>
          <a:prstGeom prst="rect">
            <a:avLst/>
          </a:prstGeom>
        </p:spPr>
        <p:txBody>
          <a:bodyPr anchor="t" rtlCol="false" tIns="0" lIns="0" bIns="0" rIns="0">
            <a:spAutoFit/>
          </a:bodyPr>
          <a:lstStyle/>
          <a:p>
            <a:pPr algn="just">
              <a:lnSpc>
                <a:spcPts val="8486"/>
              </a:lnSpc>
            </a:pPr>
            <a:r>
              <a:rPr lang="en-US" sz="6061">
                <a:solidFill>
                  <a:srgbClr val="7DA03C"/>
                </a:solidFill>
                <a:latin typeface="Tenor Sans"/>
              </a:rPr>
              <a:t>Contenu</a:t>
            </a:r>
          </a:p>
        </p:txBody>
      </p:sp>
      <p:sp>
        <p:nvSpPr>
          <p:cNvPr name="TextBox 3" id="3"/>
          <p:cNvSpPr txBox="true"/>
          <p:nvPr/>
        </p:nvSpPr>
        <p:spPr>
          <a:xfrm rot="0">
            <a:off x="1028700" y="3893509"/>
            <a:ext cx="5345777" cy="677073"/>
          </a:xfrm>
          <a:prstGeom prst="rect">
            <a:avLst/>
          </a:prstGeom>
        </p:spPr>
        <p:txBody>
          <a:bodyPr anchor="t" rtlCol="false" tIns="0" lIns="0" bIns="0" rIns="0">
            <a:spAutoFit/>
          </a:bodyPr>
          <a:lstStyle/>
          <a:p>
            <a:pPr algn="just">
              <a:lnSpc>
                <a:spcPts val="5550"/>
              </a:lnSpc>
            </a:pPr>
            <a:r>
              <a:rPr lang="en-US" sz="3964">
                <a:solidFill>
                  <a:srgbClr val="FFFFFF"/>
                </a:solidFill>
                <a:latin typeface="Tenor Sans"/>
              </a:rPr>
              <a:t>02 Analyse du projet</a:t>
            </a:r>
          </a:p>
        </p:txBody>
      </p:sp>
      <p:sp>
        <p:nvSpPr>
          <p:cNvPr name="TextBox 4" id="4"/>
          <p:cNvSpPr txBox="true"/>
          <p:nvPr/>
        </p:nvSpPr>
        <p:spPr>
          <a:xfrm rot="0">
            <a:off x="1028700" y="5207982"/>
            <a:ext cx="4565591" cy="677073"/>
          </a:xfrm>
          <a:prstGeom prst="rect">
            <a:avLst/>
          </a:prstGeom>
        </p:spPr>
        <p:txBody>
          <a:bodyPr anchor="t" rtlCol="false" tIns="0" lIns="0" bIns="0" rIns="0">
            <a:spAutoFit/>
          </a:bodyPr>
          <a:lstStyle/>
          <a:p>
            <a:pPr algn="just">
              <a:lnSpc>
                <a:spcPts val="5550"/>
              </a:lnSpc>
            </a:pPr>
            <a:r>
              <a:rPr lang="en-US" sz="3964">
                <a:solidFill>
                  <a:srgbClr val="FFFFFF"/>
                </a:solidFill>
                <a:latin typeface="Tenor Sans"/>
              </a:rPr>
              <a:t>03 Conclusions</a:t>
            </a:r>
          </a:p>
        </p:txBody>
      </p:sp>
      <p:sp>
        <p:nvSpPr>
          <p:cNvPr name="TextBox 5" id="5"/>
          <p:cNvSpPr txBox="true"/>
          <p:nvPr/>
        </p:nvSpPr>
        <p:spPr>
          <a:xfrm rot="0">
            <a:off x="1028700" y="2579037"/>
            <a:ext cx="3977348" cy="677073"/>
          </a:xfrm>
          <a:prstGeom prst="rect">
            <a:avLst/>
          </a:prstGeom>
        </p:spPr>
        <p:txBody>
          <a:bodyPr anchor="t" rtlCol="false" tIns="0" lIns="0" bIns="0" rIns="0">
            <a:spAutoFit/>
          </a:bodyPr>
          <a:lstStyle/>
          <a:p>
            <a:pPr algn="just">
              <a:lnSpc>
                <a:spcPts val="5550"/>
              </a:lnSpc>
            </a:pPr>
            <a:r>
              <a:rPr lang="en-US" sz="3964">
                <a:solidFill>
                  <a:srgbClr val="FFFFFF"/>
                </a:solidFill>
                <a:latin typeface="Tenor Sans"/>
              </a:rPr>
              <a:t>01 Historique</a:t>
            </a:r>
          </a:p>
        </p:txBody>
      </p:sp>
      <p:sp>
        <p:nvSpPr>
          <p:cNvPr name="Freeform 6" id="6"/>
          <p:cNvSpPr/>
          <p:nvPr/>
        </p:nvSpPr>
        <p:spPr>
          <a:xfrm flipH="false" flipV="false" rot="0">
            <a:off x="14149963" y="5219190"/>
            <a:ext cx="2034354" cy="2176838"/>
          </a:xfrm>
          <a:custGeom>
            <a:avLst/>
            <a:gdLst/>
            <a:ahLst/>
            <a:cxnLst/>
            <a:rect r="r" b="b" t="t" l="l"/>
            <a:pathLst>
              <a:path h="2176838" w="2034354">
                <a:moveTo>
                  <a:pt x="0" y="0"/>
                </a:moveTo>
                <a:lnTo>
                  <a:pt x="2034354" y="0"/>
                </a:lnTo>
                <a:lnTo>
                  <a:pt x="2034354" y="2176839"/>
                </a:lnTo>
                <a:lnTo>
                  <a:pt x="0" y="21768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41417" y="8110162"/>
            <a:ext cx="2034354" cy="2176838"/>
          </a:xfrm>
          <a:custGeom>
            <a:avLst/>
            <a:gdLst/>
            <a:ahLst/>
            <a:cxnLst/>
            <a:rect r="r" b="b" t="t" l="l"/>
            <a:pathLst>
              <a:path h="2176838" w="2034354">
                <a:moveTo>
                  <a:pt x="0" y="0"/>
                </a:moveTo>
                <a:lnTo>
                  <a:pt x="2034354" y="0"/>
                </a:lnTo>
                <a:lnTo>
                  <a:pt x="2034354" y="2176838"/>
                </a:lnTo>
                <a:lnTo>
                  <a:pt x="0" y="2176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7791754" y="7501604"/>
            <a:ext cx="2182738" cy="2785396"/>
          </a:xfrm>
          <a:custGeom>
            <a:avLst/>
            <a:gdLst/>
            <a:ahLst/>
            <a:cxnLst/>
            <a:rect r="r" b="b" t="t" l="l"/>
            <a:pathLst>
              <a:path h="2785396" w="2182738">
                <a:moveTo>
                  <a:pt x="0" y="0"/>
                </a:moveTo>
                <a:lnTo>
                  <a:pt x="2182738" y="0"/>
                </a:lnTo>
                <a:lnTo>
                  <a:pt x="2182738" y="2785396"/>
                </a:lnTo>
                <a:lnTo>
                  <a:pt x="0" y="2785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075771" y="7501604"/>
            <a:ext cx="2182738" cy="2785396"/>
          </a:xfrm>
          <a:custGeom>
            <a:avLst/>
            <a:gdLst/>
            <a:ahLst/>
            <a:cxnLst/>
            <a:rect r="r" b="b" t="t" l="l"/>
            <a:pathLst>
              <a:path h="2785396" w="2182738">
                <a:moveTo>
                  <a:pt x="0" y="0"/>
                </a:moveTo>
                <a:lnTo>
                  <a:pt x="2182738" y="0"/>
                </a:lnTo>
                <a:lnTo>
                  <a:pt x="2182738" y="2785396"/>
                </a:lnTo>
                <a:lnTo>
                  <a:pt x="0" y="2785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9325" y="8843874"/>
            <a:ext cx="2145187" cy="1443126"/>
          </a:xfrm>
          <a:custGeom>
            <a:avLst/>
            <a:gdLst/>
            <a:ahLst/>
            <a:cxnLst/>
            <a:rect r="r" b="b" t="t" l="l"/>
            <a:pathLst>
              <a:path h="1443126" w="2145187">
                <a:moveTo>
                  <a:pt x="0" y="0"/>
                </a:moveTo>
                <a:lnTo>
                  <a:pt x="2145187" y="0"/>
                </a:lnTo>
                <a:lnTo>
                  <a:pt x="2145187" y="1443126"/>
                </a:lnTo>
                <a:lnTo>
                  <a:pt x="0" y="1443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142813" y="6440720"/>
            <a:ext cx="2145187" cy="1443126"/>
          </a:xfrm>
          <a:custGeom>
            <a:avLst/>
            <a:gdLst/>
            <a:ahLst/>
            <a:cxnLst/>
            <a:rect r="r" b="b" t="t" l="l"/>
            <a:pathLst>
              <a:path h="1443126" w="2145187">
                <a:moveTo>
                  <a:pt x="0" y="0"/>
                </a:moveTo>
                <a:lnTo>
                  <a:pt x="2145187" y="0"/>
                </a:lnTo>
                <a:lnTo>
                  <a:pt x="2145187" y="1443126"/>
                </a:lnTo>
                <a:lnTo>
                  <a:pt x="0" y="1443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0" y="6493569"/>
            <a:ext cx="2145187" cy="2350305"/>
          </a:xfrm>
          <a:custGeom>
            <a:avLst/>
            <a:gdLst/>
            <a:ahLst/>
            <a:cxnLst/>
            <a:rect r="r" b="b" t="t" l="l"/>
            <a:pathLst>
              <a:path h="2350305" w="2145187">
                <a:moveTo>
                  <a:pt x="0" y="0"/>
                </a:moveTo>
                <a:lnTo>
                  <a:pt x="2145187" y="0"/>
                </a:lnTo>
                <a:lnTo>
                  <a:pt x="2145187" y="2350305"/>
                </a:lnTo>
                <a:lnTo>
                  <a:pt x="0" y="23503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10800000">
            <a:off x="16142813" y="7883846"/>
            <a:ext cx="2145187" cy="2350305"/>
          </a:xfrm>
          <a:custGeom>
            <a:avLst/>
            <a:gdLst/>
            <a:ahLst/>
            <a:cxnLst/>
            <a:rect r="r" b="b" t="t" l="l"/>
            <a:pathLst>
              <a:path h="2350305" w="2145187">
                <a:moveTo>
                  <a:pt x="0" y="0"/>
                </a:moveTo>
                <a:lnTo>
                  <a:pt x="2145187" y="0"/>
                </a:lnTo>
                <a:lnTo>
                  <a:pt x="2145187" y="2350305"/>
                </a:lnTo>
                <a:lnTo>
                  <a:pt x="0" y="23503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10800000">
            <a:off x="9969512" y="6546295"/>
            <a:ext cx="2071904" cy="3687856"/>
          </a:xfrm>
          <a:custGeom>
            <a:avLst/>
            <a:gdLst/>
            <a:ahLst/>
            <a:cxnLst/>
            <a:rect r="r" b="b" t="t" l="l"/>
            <a:pathLst>
              <a:path h="3687856" w="2071904">
                <a:moveTo>
                  <a:pt x="0" y="0"/>
                </a:moveTo>
                <a:lnTo>
                  <a:pt x="2071905" y="0"/>
                </a:lnTo>
                <a:lnTo>
                  <a:pt x="2071905" y="3687856"/>
                </a:lnTo>
                <a:lnTo>
                  <a:pt x="0" y="36878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6255771" y="2594439"/>
            <a:ext cx="2007059" cy="3846280"/>
          </a:xfrm>
          <a:custGeom>
            <a:avLst/>
            <a:gdLst/>
            <a:ahLst/>
            <a:cxnLst/>
            <a:rect r="r" b="b" t="t" l="l"/>
            <a:pathLst>
              <a:path h="3846280" w="2007059">
                <a:moveTo>
                  <a:pt x="0" y="0"/>
                </a:moveTo>
                <a:lnTo>
                  <a:pt x="2007058" y="0"/>
                </a:lnTo>
                <a:lnTo>
                  <a:pt x="2007058" y="3846281"/>
                </a:lnTo>
                <a:lnTo>
                  <a:pt x="0" y="38462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10800000">
            <a:off x="12072563" y="4740482"/>
            <a:ext cx="2001200" cy="1731947"/>
          </a:xfrm>
          <a:custGeom>
            <a:avLst/>
            <a:gdLst/>
            <a:ahLst/>
            <a:cxnLst/>
            <a:rect r="r" b="b" t="t" l="l"/>
            <a:pathLst>
              <a:path h="1731947" w="2001200">
                <a:moveTo>
                  <a:pt x="0" y="0"/>
                </a:moveTo>
                <a:lnTo>
                  <a:pt x="2001200" y="0"/>
                </a:lnTo>
                <a:lnTo>
                  <a:pt x="2001200" y="1731947"/>
                </a:lnTo>
                <a:lnTo>
                  <a:pt x="0" y="173194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5400000">
            <a:off x="12572863" y="5972129"/>
            <a:ext cx="1000600" cy="2001200"/>
          </a:xfrm>
          <a:custGeom>
            <a:avLst/>
            <a:gdLst/>
            <a:ahLst/>
            <a:cxnLst/>
            <a:rect r="r" b="b" t="t" l="l"/>
            <a:pathLst>
              <a:path h="2001200" w="1000600">
                <a:moveTo>
                  <a:pt x="0" y="0"/>
                </a:moveTo>
                <a:lnTo>
                  <a:pt x="1000600" y="0"/>
                </a:lnTo>
                <a:lnTo>
                  <a:pt x="1000600" y="2001200"/>
                </a:lnTo>
                <a:lnTo>
                  <a:pt x="0" y="20012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5400000">
            <a:off x="14875936" y="4319429"/>
            <a:ext cx="582407" cy="1164814"/>
          </a:xfrm>
          <a:custGeom>
            <a:avLst/>
            <a:gdLst/>
            <a:ahLst/>
            <a:cxnLst/>
            <a:rect r="r" b="b" t="t" l="l"/>
            <a:pathLst>
              <a:path h="1164814" w="582407">
                <a:moveTo>
                  <a:pt x="0" y="0"/>
                </a:moveTo>
                <a:lnTo>
                  <a:pt x="582407" y="0"/>
                </a:lnTo>
                <a:lnTo>
                  <a:pt x="582407" y="1164814"/>
                </a:lnTo>
                <a:lnTo>
                  <a:pt x="0" y="116481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5400000">
            <a:off x="12767390" y="7210400"/>
            <a:ext cx="582407" cy="1164814"/>
          </a:xfrm>
          <a:custGeom>
            <a:avLst/>
            <a:gdLst/>
            <a:ahLst/>
            <a:cxnLst/>
            <a:rect r="r" b="b" t="t" l="l"/>
            <a:pathLst>
              <a:path h="1164814" w="582407">
                <a:moveTo>
                  <a:pt x="0" y="0"/>
                </a:moveTo>
                <a:lnTo>
                  <a:pt x="582407" y="0"/>
                </a:lnTo>
                <a:lnTo>
                  <a:pt x="582407" y="1164815"/>
                </a:lnTo>
                <a:lnTo>
                  <a:pt x="0" y="116481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4294582" y="463653"/>
            <a:ext cx="3696461" cy="871728"/>
          </a:xfrm>
          <a:custGeom>
            <a:avLst/>
            <a:gdLst/>
            <a:ahLst/>
            <a:cxnLst/>
            <a:rect r="r" b="b" t="t" l="l"/>
            <a:pathLst>
              <a:path h="871728" w="3696461">
                <a:moveTo>
                  <a:pt x="0" y="0"/>
                </a:moveTo>
                <a:lnTo>
                  <a:pt x="3696461" y="0"/>
                </a:lnTo>
                <a:lnTo>
                  <a:pt x="3696461" y="871728"/>
                </a:lnTo>
                <a:lnTo>
                  <a:pt x="0" y="871728"/>
                </a:lnTo>
                <a:lnTo>
                  <a:pt x="0" y="0"/>
                </a:lnTo>
                <a:close/>
              </a:path>
            </a:pathLst>
          </a:custGeom>
          <a:blipFill>
            <a:blip r:embed="rId18"/>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E2714"/>
        </a:solidFill>
      </p:bgPr>
    </p:bg>
    <p:spTree>
      <p:nvGrpSpPr>
        <p:cNvPr id="1" name=""/>
        <p:cNvGrpSpPr/>
        <p:nvPr/>
      </p:nvGrpSpPr>
      <p:grpSpPr>
        <a:xfrm>
          <a:off x="0" y="0"/>
          <a:ext cx="0" cy="0"/>
          <a:chOff x="0" y="0"/>
          <a:chExt cx="0" cy="0"/>
        </a:xfrm>
      </p:grpSpPr>
      <p:sp>
        <p:nvSpPr>
          <p:cNvPr name="Freeform 2" id="2"/>
          <p:cNvSpPr/>
          <p:nvPr/>
        </p:nvSpPr>
        <p:spPr>
          <a:xfrm flipH="false" flipV="false" rot="0">
            <a:off x="950473" y="9327294"/>
            <a:ext cx="896889" cy="959706"/>
          </a:xfrm>
          <a:custGeom>
            <a:avLst/>
            <a:gdLst/>
            <a:ahLst/>
            <a:cxnLst/>
            <a:rect r="r" b="b" t="t" l="l"/>
            <a:pathLst>
              <a:path h="959706" w="896889">
                <a:moveTo>
                  <a:pt x="0" y="0"/>
                </a:moveTo>
                <a:lnTo>
                  <a:pt x="896889" y="0"/>
                </a:lnTo>
                <a:lnTo>
                  <a:pt x="896889" y="959706"/>
                </a:lnTo>
                <a:lnTo>
                  <a:pt x="0" y="9597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69432" y="9304772"/>
            <a:ext cx="917936" cy="982228"/>
          </a:xfrm>
          <a:custGeom>
            <a:avLst/>
            <a:gdLst/>
            <a:ahLst/>
            <a:cxnLst/>
            <a:rect r="r" b="b" t="t" l="l"/>
            <a:pathLst>
              <a:path h="982228" w="917936">
                <a:moveTo>
                  <a:pt x="0" y="0"/>
                </a:moveTo>
                <a:lnTo>
                  <a:pt x="917937" y="0"/>
                </a:lnTo>
                <a:lnTo>
                  <a:pt x="917937" y="982228"/>
                </a:lnTo>
                <a:lnTo>
                  <a:pt x="0" y="9822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9058998"/>
            <a:ext cx="962307" cy="1228002"/>
          </a:xfrm>
          <a:custGeom>
            <a:avLst/>
            <a:gdLst/>
            <a:ahLst/>
            <a:cxnLst/>
            <a:rect r="r" b="b" t="t" l="l"/>
            <a:pathLst>
              <a:path h="1228002" w="962307">
                <a:moveTo>
                  <a:pt x="0" y="0"/>
                </a:moveTo>
                <a:lnTo>
                  <a:pt x="962307" y="0"/>
                </a:lnTo>
                <a:lnTo>
                  <a:pt x="962307" y="1228002"/>
                </a:lnTo>
                <a:lnTo>
                  <a:pt x="0" y="12280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87369" y="9030181"/>
            <a:ext cx="984889" cy="1256819"/>
          </a:xfrm>
          <a:custGeom>
            <a:avLst/>
            <a:gdLst/>
            <a:ahLst/>
            <a:cxnLst/>
            <a:rect r="r" b="b" t="t" l="l"/>
            <a:pathLst>
              <a:path h="1256819" w="984889">
                <a:moveTo>
                  <a:pt x="0" y="0"/>
                </a:moveTo>
                <a:lnTo>
                  <a:pt x="984889" y="0"/>
                </a:lnTo>
                <a:lnTo>
                  <a:pt x="984889" y="1256819"/>
                </a:lnTo>
                <a:lnTo>
                  <a:pt x="0" y="12568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320054" y="8551491"/>
            <a:ext cx="967946" cy="651164"/>
          </a:xfrm>
          <a:custGeom>
            <a:avLst/>
            <a:gdLst/>
            <a:ahLst/>
            <a:cxnLst/>
            <a:rect r="r" b="b" t="t" l="l"/>
            <a:pathLst>
              <a:path h="651164" w="967946">
                <a:moveTo>
                  <a:pt x="0" y="0"/>
                </a:moveTo>
                <a:lnTo>
                  <a:pt x="967946" y="0"/>
                </a:lnTo>
                <a:lnTo>
                  <a:pt x="967946" y="651164"/>
                </a:lnTo>
                <a:lnTo>
                  <a:pt x="0" y="6511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0800000">
            <a:off x="17320054" y="9202655"/>
            <a:ext cx="967946" cy="1060499"/>
          </a:xfrm>
          <a:custGeom>
            <a:avLst/>
            <a:gdLst/>
            <a:ahLst/>
            <a:cxnLst/>
            <a:rect r="r" b="b" t="t" l="l"/>
            <a:pathLst>
              <a:path h="1060499" w="967946">
                <a:moveTo>
                  <a:pt x="0" y="0"/>
                </a:moveTo>
                <a:lnTo>
                  <a:pt x="967946" y="0"/>
                </a:lnTo>
                <a:lnTo>
                  <a:pt x="967946" y="1060499"/>
                </a:lnTo>
                <a:lnTo>
                  <a:pt x="0" y="10604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5400000">
            <a:off x="1270534" y="8930615"/>
            <a:ext cx="256767" cy="513533"/>
          </a:xfrm>
          <a:custGeom>
            <a:avLst/>
            <a:gdLst/>
            <a:ahLst/>
            <a:cxnLst/>
            <a:rect r="r" b="b" t="t" l="l"/>
            <a:pathLst>
              <a:path h="513533" w="256767">
                <a:moveTo>
                  <a:pt x="0" y="0"/>
                </a:moveTo>
                <a:lnTo>
                  <a:pt x="256767" y="0"/>
                </a:lnTo>
                <a:lnTo>
                  <a:pt x="256767" y="513533"/>
                </a:lnTo>
                <a:lnTo>
                  <a:pt x="0" y="5135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5400000">
            <a:off x="15797004" y="8898784"/>
            <a:ext cx="262792" cy="525585"/>
          </a:xfrm>
          <a:custGeom>
            <a:avLst/>
            <a:gdLst/>
            <a:ahLst/>
            <a:cxnLst/>
            <a:rect r="r" b="b" t="t" l="l"/>
            <a:pathLst>
              <a:path h="525585" w="262792">
                <a:moveTo>
                  <a:pt x="0" y="0"/>
                </a:moveTo>
                <a:lnTo>
                  <a:pt x="262793" y="0"/>
                </a:lnTo>
                <a:lnTo>
                  <a:pt x="262793" y="525585"/>
                </a:lnTo>
                <a:lnTo>
                  <a:pt x="0" y="5255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494336" y="3491721"/>
            <a:ext cx="6972891" cy="2385180"/>
          </a:xfrm>
          <a:custGeom>
            <a:avLst/>
            <a:gdLst/>
            <a:ahLst/>
            <a:cxnLst/>
            <a:rect r="r" b="b" t="t" l="l"/>
            <a:pathLst>
              <a:path h="2385180" w="6972891">
                <a:moveTo>
                  <a:pt x="0" y="0"/>
                </a:moveTo>
                <a:lnTo>
                  <a:pt x="6972890" y="0"/>
                </a:lnTo>
                <a:lnTo>
                  <a:pt x="6972890" y="2385180"/>
                </a:lnTo>
                <a:lnTo>
                  <a:pt x="0" y="2385180"/>
                </a:lnTo>
                <a:lnTo>
                  <a:pt x="0" y="0"/>
                </a:lnTo>
                <a:close/>
              </a:path>
            </a:pathLst>
          </a:custGeom>
          <a:blipFill>
            <a:blip r:embed="rId12"/>
            <a:stretch>
              <a:fillRect l="0" t="0" r="0" b="0"/>
            </a:stretch>
          </a:blipFill>
        </p:spPr>
      </p:sp>
      <p:sp>
        <p:nvSpPr>
          <p:cNvPr name="Freeform 11" id="11"/>
          <p:cNvSpPr/>
          <p:nvPr/>
        </p:nvSpPr>
        <p:spPr>
          <a:xfrm flipH="false" flipV="false" rot="0">
            <a:off x="14294582" y="463653"/>
            <a:ext cx="3696461" cy="871728"/>
          </a:xfrm>
          <a:custGeom>
            <a:avLst/>
            <a:gdLst/>
            <a:ahLst/>
            <a:cxnLst/>
            <a:rect r="r" b="b" t="t" l="l"/>
            <a:pathLst>
              <a:path h="871728" w="3696461">
                <a:moveTo>
                  <a:pt x="0" y="0"/>
                </a:moveTo>
                <a:lnTo>
                  <a:pt x="3696461" y="0"/>
                </a:lnTo>
                <a:lnTo>
                  <a:pt x="3696461" y="871728"/>
                </a:lnTo>
                <a:lnTo>
                  <a:pt x="0" y="871728"/>
                </a:lnTo>
                <a:lnTo>
                  <a:pt x="0" y="0"/>
                </a:lnTo>
                <a:close/>
              </a:path>
            </a:pathLst>
          </a:custGeom>
          <a:blipFill>
            <a:blip r:embed="rId13"/>
            <a:stretch>
              <a:fillRect l="0" t="0" r="0" b="0"/>
            </a:stretch>
          </a:blipFill>
        </p:spPr>
      </p:sp>
      <p:sp>
        <p:nvSpPr>
          <p:cNvPr name="Freeform 12" id="12"/>
          <p:cNvSpPr/>
          <p:nvPr/>
        </p:nvSpPr>
        <p:spPr>
          <a:xfrm flipH="false" flipV="false" rot="0">
            <a:off x="1028700" y="3482725"/>
            <a:ext cx="4682686" cy="6458877"/>
          </a:xfrm>
          <a:custGeom>
            <a:avLst/>
            <a:gdLst/>
            <a:ahLst/>
            <a:cxnLst/>
            <a:rect r="r" b="b" t="t" l="l"/>
            <a:pathLst>
              <a:path h="6458877" w="4682686">
                <a:moveTo>
                  <a:pt x="0" y="0"/>
                </a:moveTo>
                <a:lnTo>
                  <a:pt x="4682686" y="0"/>
                </a:lnTo>
                <a:lnTo>
                  <a:pt x="4682686" y="6458877"/>
                </a:lnTo>
                <a:lnTo>
                  <a:pt x="0" y="6458877"/>
                </a:lnTo>
                <a:lnTo>
                  <a:pt x="0" y="0"/>
                </a:lnTo>
                <a:close/>
              </a:path>
            </a:pathLst>
          </a:custGeom>
          <a:blipFill>
            <a:blip r:embed="rId14"/>
            <a:stretch>
              <a:fillRect l="0" t="0" r="0" b="0"/>
            </a:stretch>
          </a:blipFill>
        </p:spPr>
      </p:sp>
      <p:sp>
        <p:nvSpPr>
          <p:cNvPr name="Freeform 13" id="13"/>
          <p:cNvSpPr/>
          <p:nvPr/>
        </p:nvSpPr>
        <p:spPr>
          <a:xfrm flipH="false" flipV="false" rot="0">
            <a:off x="5787586" y="3482725"/>
            <a:ext cx="4599684" cy="6460772"/>
          </a:xfrm>
          <a:custGeom>
            <a:avLst/>
            <a:gdLst/>
            <a:ahLst/>
            <a:cxnLst/>
            <a:rect r="r" b="b" t="t" l="l"/>
            <a:pathLst>
              <a:path h="6460772" w="4599684">
                <a:moveTo>
                  <a:pt x="0" y="0"/>
                </a:moveTo>
                <a:lnTo>
                  <a:pt x="4599684" y="0"/>
                </a:lnTo>
                <a:lnTo>
                  <a:pt x="4599684" y="6460772"/>
                </a:lnTo>
                <a:lnTo>
                  <a:pt x="0" y="6460772"/>
                </a:lnTo>
                <a:lnTo>
                  <a:pt x="0" y="0"/>
                </a:lnTo>
                <a:close/>
              </a:path>
            </a:pathLst>
          </a:custGeom>
          <a:blipFill>
            <a:blip r:embed="rId15"/>
            <a:stretch>
              <a:fillRect l="0" t="0" r="0" b="0"/>
            </a:stretch>
          </a:blipFill>
        </p:spPr>
      </p:sp>
      <p:sp>
        <p:nvSpPr>
          <p:cNvPr name="Freeform 14" id="14"/>
          <p:cNvSpPr/>
          <p:nvPr/>
        </p:nvSpPr>
        <p:spPr>
          <a:xfrm flipH="false" flipV="false" rot="0">
            <a:off x="10494336" y="5981676"/>
            <a:ext cx="6944316" cy="3961821"/>
          </a:xfrm>
          <a:custGeom>
            <a:avLst/>
            <a:gdLst/>
            <a:ahLst/>
            <a:cxnLst/>
            <a:rect r="r" b="b" t="t" l="l"/>
            <a:pathLst>
              <a:path h="3961821" w="6944316">
                <a:moveTo>
                  <a:pt x="0" y="0"/>
                </a:moveTo>
                <a:lnTo>
                  <a:pt x="6944315" y="0"/>
                </a:lnTo>
                <a:lnTo>
                  <a:pt x="6944315" y="3961821"/>
                </a:lnTo>
                <a:lnTo>
                  <a:pt x="0" y="3961821"/>
                </a:lnTo>
                <a:lnTo>
                  <a:pt x="0" y="0"/>
                </a:lnTo>
                <a:close/>
              </a:path>
            </a:pathLst>
          </a:custGeom>
          <a:blipFill>
            <a:blip r:embed="rId16"/>
            <a:stretch>
              <a:fillRect l="0" t="0" r="0" b="0"/>
            </a:stretch>
          </a:blipFill>
        </p:spPr>
      </p:sp>
      <p:sp>
        <p:nvSpPr>
          <p:cNvPr name="TextBox 15" id="15"/>
          <p:cNvSpPr txBox="true"/>
          <p:nvPr/>
        </p:nvSpPr>
        <p:spPr>
          <a:xfrm rot="0">
            <a:off x="1028700" y="998403"/>
            <a:ext cx="3410118" cy="547248"/>
          </a:xfrm>
          <a:prstGeom prst="rect">
            <a:avLst/>
          </a:prstGeom>
        </p:spPr>
        <p:txBody>
          <a:bodyPr anchor="t" rtlCol="false" tIns="0" lIns="0" bIns="0" rIns="0">
            <a:spAutoFit/>
          </a:bodyPr>
          <a:lstStyle/>
          <a:p>
            <a:pPr>
              <a:lnSpc>
                <a:spcPts val="4486"/>
              </a:lnSpc>
            </a:pPr>
            <a:r>
              <a:rPr lang="en-US" sz="3204">
                <a:solidFill>
                  <a:srgbClr val="7DA03C"/>
                </a:solidFill>
                <a:latin typeface="Tenor Sans"/>
              </a:rPr>
              <a:t>01 Historique</a:t>
            </a:r>
          </a:p>
        </p:txBody>
      </p:sp>
      <p:sp>
        <p:nvSpPr>
          <p:cNvPr name="TextBox 16" id="16"/>
          <p:cNvSpPr txBox="true"/>
          <p:nvPr/>
        </p:nvSpPr>
        <p:spPr>
          <a:xfrm rot="0">
            <a:off x="962307" y="1786946"/>
            <a:ext cx="16504920" cy="1419554"/>
          </a:xfrm>
          <a:prstGeom prst="rect">
            <a:avLst/>
          </a:prstGeom>
        </p:spPr>
        <p:txBody>
          <a:bodyPr anchor="t" rtlCol="false" tIns="0" lIns="0" bIns="0" rIns="0">
            <a:spAutoFit/>
          </a:bodyPr>
          <a:lstStyle/>
          <a:p>
            <a:pPr>
              <a:lnSpc>
                <a:spcPts val="2308"/>
              </a:lnSpc>
              <a:spcBef>
                <a:spcPct val="0"/>
              </a:spcBef>
            </a:pPr>
            <a:r>
              <a:rPr lang="en-US" sz="1649">
                <a:solidFill>
                  <a:srgbClr val="FFFFFF"/>
                </a:solidFill>
                <a:latin typeface="Tenor Sans"/>
              </a:rPr>
              <a:t>N</a:t>
            </a:r>
            <a:r>
              <a:rPr lang="en-US" sz="1649">
                <a:solidFill>
                  <a:srgbClr val="FFFFFF"/>
                </a:solidFill>
                <a:latin typeface="Tenor Sans"/>
              </a:rPr>
              <a:t>ous sommes une plateforme numérique entièrement intégrée qui aide les acteurs de l'agroalimentaire, de l'agro-industrie et de l'agrotourisme, à prendre des décisions basées sur des données.</a:t>
            </a:r>
          </a:p>
          <a:p>
            <a:pPr>
              <a:lnSpc>
                <a:spcPts val="2308"/>
              </a:lnSpc>
              <a:spcBef>
                <a:spcPct val="0"/>
              </a:spcBef>
            </a:pPr>
            <a:r>
              <a:rPr lang="en-US" sz="1649">
                <a:solidFill>
                  <a:srgbClr val="FFFFFF"/>
                </a:solidFill>
                <a:latin typeface="Tenor Sans"/>
              </a:rPr>
              <a:t>De 2004 à 2012, mon père a travaillé sur des projets tels que la diffusion du SCV (Système de Couverture Végétale) avec le projet BVLac, y compris les activités d'entreprises telles que CTHT, AVSF, BRL, ANAE, SDMAD, Jica, qui a comparé son activité à la concurrence mondiale et travaille avec près de 5 Fédérations, 350 Organisations Paysannes  de base intégrant 7 000 exploitants et 2 800 paysans individuels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E2714"/>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3410118" cy="1671198"/>
          </a:xfrm>
          <a:prstGeom prst="rect">
            <a:avLst/>
          </a:prstGeom>
        </p:spPr>
        <p:txBody>
          <a:bodyPr anchor="t" rtlCol="false" tIns="0" lIns="0" bIns="0" rIns="0">
            <a:spAutoFit/>
          </a:bodyPr>
          <a:lstStyle/>
          <a:p>
            <a:pPr>
              <a:lnSpc>
                <a:spcPts val="4486"/>
              </a:lnSpc>
            </a:pPr>
            <a:r>
              <a:rPr lang="en-US" sz="3204">
                <a:solidFill>
                  <a:srgbClr val="7DA03C"/>
                </a:solidFill>
                <a:latin typeface="Tenor Sans"/>
              </a:rPr>
              <a:t>02 Analyse du projet - problème</a:t>
            </a:r>
          </a:p>
        </p:txBody>
      </p:sp>
      <p:sp>
        <p:nvSpPr>
          <p:cNvPr name="Freeform 3" id="3"/>
          <p:cNvSpPr/>
          <p:nvPr/>
        </p:nvSpPr>
        <p:spPr>
          <a:xfrm flipH="false" flipV="false" rot="0">
            <a:off x="2155896" y="8110162"/>
            <a:ext cx="2034354" cy="2176838"/>
          </a:xfrm>
          <a:custGeom>
            <a:avLst/>
            <a:gdLst/>
            <a:ahLst/>
            <a:cxnLst/>
            <a:rect r="r" b="b" t="t" l="l"/>
            <a:pathLst>
              <a:path h="2176838" w="2034354">
                <a:moveTo>
                  <a:pt x="0" y="0"/>
                </a:moveTo>
                <a:lnTo>
                  <a:pt x="2034354" y="0"/>
                </a:lnTo>
                <a:lnTo>
                  <a:pt x="2034354" y="2176838"/>
                </a:lnTo>
                <a:lnTo>
                  <a:pt x="0" y="2176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501604"/>
            <a:ext cx="2182738" cy="2785396"/>
          </a:xfrm>
          <a:custGeom>
            <a:avLst/>
            <a:gdLst/>
            <a:ahLst/>
            <a:cxnLst/>
            <a:rect r="r" b="b" t="t" l="l"/>
            <a:pathLst>
              <a:path h="2785396" w="2182738">
                <a:moveTo>
                  <a:pt x="0" y="0"/>
                </a:moveTo>
                <a:lnTo>
                  <a:pt x="2182738" y="0"/>
                </a:lnTo>
                <a:lnTo>
                  <a:pt x="2182738" y="2785396"/>
                </a:lnTo>
                <a:lnTo>
                  <a:pt x="0" y="2785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142813" y="8843874"/>
            <a:ext cx="2145187" cy="1443126"/>
          </a:xfrm>
          <a:custGeom>
            <a:avLst/>
            <a:gdLst/>
            <a:ahLst/>
            <a:cxnLst/>
            <a:rect r="r" b="b" t="t" l="l"/>
            <a:pathLst>
              <a:path h="1443126" w="2145187">
                <a:moveTo>
                  <a:pt x="0" y="0"/>
                </a:moveTo>
                <a:lnTo>
                  <a:pt x="2145187" y="0"/>
                </a:lnTo>
                <a:lnTo>
                  <a:pt x="2145187" y="1443126"/>
                </a:lnTo>
                <a:lnTo>
                  <a:pt x="0" y="1443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8100" y="3708173"/>
            <a:ext cx="2071904" cy="3687856"/>
          </a:xfrm>
          <a:custGeom>
            <a:avLst/>
            <a:gdLst/>
            <a:ahLst/>
            <a:cxnLst/>
            <a:rect r="r" b="b" t="t" l="l"/>
            <a:pathLst>
              <a:path h="3687856" w="2071904">
                <a:moveTo>
                  <a:pt x="0" y="0"/>
                </a:moveTo>
                <a:lnTo>
                  <a:pt x="2071904" y="0"/>
                </a:lnTo>
                <a:lnTo>
                  <a:pt x="2071904" y="3687856"/>
                </a:lnTo>
                <a:lnTo>
                  <a:pt x="0" y="36878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169544" y="3626749"/>
            <a:ext cx="2007059" cy="3846280"/>
          </a:xfrm>
          <a:custGeom>
            <a:avLst/>
            <a:gdLst/>
            <a:ahLst/>
            <a:cxnLst/>
            <a:rect r="r" b="b" t="t" l="l"/>
            <a:pathLst>
              <a:path h="3846280" w="2007059">
                <a:moveTo>
                  <a:pt x="0" y="0"/>
                </a:moveTo>
                <a:lnTo>
                  <a:pt x="2007059" y="0"/>
                </a:lnTo>
                <a:lnTo>
                  <a:pt x="2007059" y="3846280"/>
                </a:lnTo>
                <a:lnTo>
                  <a:pt x="0" y="3846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5400000">
            <a:off x="2881870" y="7210400"/>
            <a:ext cx="582407" cy="1164814"/>
          </a:xfrm>
          <a:custGeom>
            <a:avLst/>
            <a:gdLst/>
            <a:ahLst/>
            <a:cxnLst/>
            <a:rect r="r" b="b" t="t" l="l"/>
            <a:pathLst>
              <a:path h="1164814" w="582407">
                <a:moveTo>
                  <a:pt x="0" y="0"/>
                </a:moveTo>
                <a:lnTo>
                  <a:pt x="582407" y="0"/>
                </a:lnTo>
                <a:lnTo>
                  <a:pt x="582407" y="1164815"/>
                </a:lnTo>
                <a:lnTo>
                  <a:pt x="0" y="116481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4294582" y="463653"/>
            <a:ext cx="3696461" cy="871728"/>
          </a:xfrm>
          <a:custGeom>
            <a:avLst/>
            <a:gdLst/>
            <a:ahLst/>
            <a:cxnLst/>
            <a:rect r="r" b="b" t="t" l="l"/>
            <a:pathLst>
              <a:path h="871728" w="3696461">
                <a:moveTo>
                  <a:pt x="0" y="0"/>
                </a:moveTo>
                <a:lnTo>
                  <a:pt x="3696461" y="0"/>
                </a:lnTo>
                <a:lnTo>
                  <a:pt x="3696461" y="871728"/>
                </a:lnTo>
                <a:lnTo>
                  <a:pt x="0" y="871728"/>
                </a:lnTo>
                <a:lnTo>
                  <a:pt x="0" y="0"/>
                </a:lnTo>
                <a:close/>
              </a:path>
            </a:pathLst>
          </a:custGeom>
          <a:blipFill>
            <a:blip r:embed="rId14"/>
            <a:stretch>
              <a:fillRect l="0" t="0" r="0" b="0"/>
            </a:stretch>
          </a:blipFill>
        </p:spPr>
      </p:sp>
      <p:sp>
        <p:nvSpPr>
          <p:cNvPr name="TextBox 10" id="10"/>
          <p:cNvSpPr txBox="true"/>
          <p:nvPr/>
        </p:nvSpPr>
        <p:spPr>
          <a:xfrm rot="0">
            <a:off x="4438818" y="1777584"/>
            <a:ext cx="12820482" cy="6924404"/>
          </a:xfrm>
          <a:prstGeom prst="rect">
            <a:avLst/>
          </a:prstGeom>
        </p:spPr>
        <p:txBody>
          <a:bodyPr anchor="t" rtlCol="false" tIns="0" lIns="0" bIns="0" rIns="0">
            <a:spAutoFit/>
          </a:bodyPr>
          <a:lstStyle/>
          <a:p>
            <a:pPr>
              <a:lnSpc>
                <a:spcPts val="3050"/>
              </a:lnSpc>
            </a:pPr>
            <a:r>
              <a:rPr lang="en-US" sz="2699">
                <a:solidFill>
                  <a:srgbClr val="FFFFFF"/>
                </a:solidFill>
                <a:latin typeface="Tenor Sans"/>
              </a:rPr>
              <a:t>C'est avec l'expérience que mon père a faite que je peux vous présenter le système " FermTech Expériences " comprenant principalement l'agrobusiness et l'agrotourisme qui pourrait aider à résoudre plusieurs problèmes liés à l'agriculture à Madagascar, notamment :</a:t>
            </a:r>
          </a:p>
          <a:p>
            <a:pPr>
              <a:lnSpc>
                <a:spcPts val="3050"/>
              </a:lnSpc>
            </a:pPr>
          </a:p>
          <a:p>
            <a:pPr>
              <a:lnSpc>
                <a:spcPts val="3050"/>
              </a:lnSpc>
            </a:pPr>
            <a:r>
              <a:rPr lang="en-US" sz="2699">
                <a:solidFill>
                  <a:srgbClr val="FFFFFF"/>
                </a:solidFill>
                <a:latin typeface="Tenor Sans"/>
              </a:rPr>
              <a:t>L'insécurité alimentaire, en favorisant l'agriculture durable et l'accès à une alimentation plus diversifiée.</a:t>
            </a:r>
          </a:p>
          <a:p>
            <a:pPr>
              <a:lnSpc>
                <a:spcPts val="3050"/>
              </a:lnSpc>
            </a:pPr>
            <a:r>
              <a:rPr lang="en-US" sz="2699">
                <a:solidFill>
                  <a:srgbClr val="FFFFFF"/>
                </a:solidFill>
                <a:latin typeface="Tenor Sans"/>
              </a:rPr>
              <a:t>Les pratiques agricoles traditionnelles, en sensibilisant les agriculteurs aux méthodes de gestion agricole modernes et durables.</a:t>
            </a:r>
          </a:p>
          <a:p>
            <a:pPr>
              <a:lnSpc>
                <a:spcPts val="3050"/>
              </a:lnSpc>
            </a:pPr>
            <a:r>
              <a:rPr lang="en-US" sz="2699">
                <a:solidFill>
                  <a:srgbClr val="FFFFFF"/>
                </a:solidFill>
                <a:latin typeface="Tenor Sans"/>
              </a:rPr>
              <a:t>Le faible accès aux marchés, en facilitant les connexions directes entre les agriculteurs et les consommateurs afin de stimuler l'économie rurale.</a:t>
            </a:r>
          </a:p>
          <a:p>
            <a:pPr>
              <a:lnSpc>
                <a:spcPts val="3050"/>
              </a:lnSpc>
            </a:pPr>
            <a:r>
              <a:rPr lang="en-US" sz="2699">
                <a:solidFill>
                  <a:srgbClr val="FFFFFF"/>
                </a:solidFill>
                <a:latin typeface="Tenor Sans"/>
              </a:rPr>
              <a:t>L'érosion des sols et la déforestation, en proposant des expériences de conservation des sols et de reboisement.</a:t>
            </a:r>
          </a:p>
          <a:p>
            <a:pPr>
              <a:lnSpc>
                <a:spcPts val="3050"/>
              </a:lnSpc>
            </a:pPr>
            <a:r>
              <a:rPr lang="en-US" sz="2699">
                <a:solidFill>
                  <a:srgbClr val="FFFFFF"/>
                </a:solidFill>
                <a:latin typeface="Tenor Sans"/>
              </a:rPr>
              <a:t>Vulnérabilité au changement climatique, en proposant des expériences d'adaptation au changement climatique et des techniques agricoles résilientes.</a:t>
            </a:r>
          </a:p>
          <a:p>
            <a:pPr>
              <a:lnSpc>
                <a:spcPts val="3050"/>
              </a:lnSpc>
              <a:spcBef>
                <a:spcPct val="0"/>
              </a:spcBef>
            </a:pPr>
            <a:r>
              <a:rPr lang="en-US" sz="2699">
                <a:solidFill>
                  <a:srgbClr val="FFFFFF"/>
                </a:solidFill>
                <a:latin typeface="Tenor Sans"/>
              </a:rPr>
              <a:t>Manque de compétences techniques, en proposant des ateliers de formation pour renforcer les compétences techniques des agriculteurs.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E2714"/>
        </a:solidFill>
      </p:bgPr>
    </p:bg>
    <p:spTree>
      <p:nvGrpSpPr>
        <p:cNvPr id="1" name=""/>
        <p:cNvGrpSpPr/>
        <p:nvPr/>
      </p:nvGrpSpPr>
      <p:grpSpPr>
        <a:xfrm>
          <a:off x="0" y="0"/>
          <a:ext cx="0" cy="0"/>
          <a:chOff x="0" y="0"/>
          <a:chExt cx="0" cy="0"/>
        </a:xfrm>
      </p:grpSpPr>
      <p:sp>
        <p:nvSpPr>
          <p:cNvPr name="Freeform 2" id="2"/>
          <p:cNvSpPr/>
          <p:nvPr/>
        </p:nvSpPr>
        <p:spPr>
          <a:xfrm flipH="false" flipV="false" rot="0">
            <a:off x="2155896" y="8110162"/>
            <a:ext cx="2034354" cy="2176838"/>
          </a:xfrm>
          <a:custGeom>
            <a:avLst/>
            <a:gdLst/>
            <a:ahLst/>
            <a:cxnLst/>
            <a:rect r="r" b="b" t="t" l="l"/>
            <a:pathLst>
              <a:path h="2176838" w="2034354">
                <a:moveTo>
                  <a:pt x="0" y="0"/>
                </a:moveTo>
                <a:lnTo>
                  <a:pt x="2034354" y="0"/>
                </a:lnTo>
                <a:lnTo>
                  <a:pt x="2034354" y="2176838"/>
                </a:lnTo>
                <a:lnTo>
                  <a:pt x="0" y="2176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501604"/>
            <a:ext cx="2182738" cy="2785396"/>
          </a:xfrm>
          <a:custGeom>
            <a:avLst/>
            <a:gdLst/>
            <a:ahLst/>
            <a:cxnLst/>
            <a:rect r="r" b="b" t="t" l="l"/>
            <a:pathLst>
              <a:path h="2785396" w="2182738">
                <a:moveTo>
                  <a:pt x="0" y="0"/>
                </a:moveTo>
                <a:lnTo>
                  <a:pt x="2182738" y="0"/>
                </a:lnTo>
                <a:lnTo>
                  <a:pt x="2182738" y="2785396"/>
                </a:lnTo>
                <a:lnTo>
                  <a:pt x="0" y="2785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42813" y="8843874"/>
            <a:ext cx="2145187" cy="1443126"/>
          </a:xfrm>
          <a:custGeom>
            <a:avLst/>
            <a:gdLst/>
            <a:ahLst/>
            <a:cxnLst/>
            <a:rect r="r" b="b" t="t" l="l"/>
            <a:pathLst>
              <a:path h="1443126" w="2145187">
                <a:moveTo>
                  <a:pt x="0" y="0"/>
                </a:moveTo>
                <a:lnTo>
                  <a:pt x="2145187" y="0"/>
                </a:lnTo>
                <a:lnTo>
                  <a:pt x="2145187" y="1443126"/>
                </a:lnTo>
                <a:lnTo>
                  <a:pt x="0" y="1443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38100" y="3708173"/>
            <a:ext cx="2071904" cy="3687856"/>
          </a:xfrm>
          <a:custGeom>
            <a:avLst/>
            <a:gdLst/>
            <a:ahLst/>
            <a:cxnLst/>
            <a:rect r="r" b="b" t="t" l="l"/>
            <a:pathLst>
              <a:path h="3687856" w="2071904">
                <a:moveTo>
                  <a:pt x="0" y="0"/>
                </a:moveTo>
                <a:lnTo>
                  <a:pt x="2071904" y="0"/>
                </a:lnTo>
                <a:lnTo>
                  <a:pt x="2071904" y="3687856"/>
                </a:lnTo>
                <a:lnTo>
                  <a:pt x="0" y="36878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169544" y="3626749"/>
            <a:ext cx="2007059" cy="3846280"/>
          </a:xfrm>
          <a:custGeom>
            <a:avLst/>
            <a:gdLst/>
            <a:ahLst/>
            <a:cxnLst/>
            <a:rect r="r" b="b" t="t" l="l"/>
            <a:pathLst>
              <a:path h="3846280" w="2007059">
                <a:moveTo>
                  <a:pt x="0" y="0"/>
                </a:moveTo>
                <a:lnTo>
                  <a:pt x="2007059" y="0"/>
                </a:lnTo>
                <a:lnTo>
                  <a:pt x="2007059" y="3846280"/>
                </a:lnTo>
                <a:lnTo>
                  <a:pt x="0" y="3846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5400000">
            <a:off x="2881870" y="7210400"/>
            <a:ext cx="582407" cy="1164814"/>
          </a:xfrm>
          <a:custGeom>
            <a:avLst/>
            <a:gdLst/>
            <a:ahLst/>
            <a:cxnLst/>
            <a:rect r="r" b="b" t="t" l="l"/>
            <a:pathLst>
              <a:path h="1164814" w="582407">
                <a:moveTo>
                  <a:pt x="0" y="0"/>
                </a:moveTo>
                <a:lnTo>
                  <a:pt x="582407" y="0"/>
                </a:lnTo>
                <a:lnTo>
                  <a:pt x="582407" y="1164815"/>
                </a:lnTo>
                <a:lnTo>
                  <a:pt x="0" y="116481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4294582" y="463653"/>
            <a:ext cx="3696461" cy="871728"/>
          </a:xfrm>
          <a:custGeom>
            <a:avLst/>
            <a:gdLst/>
            <a:ahLst/>
            <a:cxnLst/>
            <a:rect r="r" b="b" t="t" l="l"/>
            <a:pathLst>
              <a:path h="871728" w="3696461">
                <a:moveTo>
                  <a:pt x="0" y="0"/>
                </a:moveTo>
                <a:lnTo>
                  <a:pt x="3696461" y="0"/>
                </a:lnTo>
                <a:lnTo>
                  <a:pt x="3696461" y="871728"/>
                </a:lnTo>
                <a:lnTo>
                  <a:pt x="0" y="871728"/>
                </a:lnTo>
                <a:lnTo>
                  <a:pt x="0" y="0"/>
                </a:lnTo>
                <a:close/>
              </a:path>
            </a:pathLst>
          </a:custGeom>
          <a:blipFill>
            <a:blip r:embed="rId14"/>
            <a:stretch>
              <a:fillRect l="0" t="0" r="0" b="0"/>
            </a:stretch>
          </a:blipFill>
        </p:spPr>
      </p:sp>
      <p:sp>
        <p:nvSpPr>
          <p:cNvPr name="Freeform 9" id="9"/>
          <p:cNvSpPr/>
          <p:nvPr/>
        </p:nvSpPr>
        <p:spPr>
          <a:xfrm flipH="false" flipV="false" rot="0">
            <a:off x="8446790" y="8110162"/>
            <a:ext cx="1727600" cy="1951089"/>
          </a:xfrm>
          <a:custGeom>
            <a:avLst/>
            <a:gdLst/>
            <a:ahLst/>
            <a:cxnLst/>
            <a:rect r="r" b="b" t="t" l="l"/>
            <a:pathLst>
              <a:path h="1951089" w="1727600">
                <a:moveTo>
                  <a:pt x="0" y="0"/>
                </a:moveTo>
                <a:lnTo>
                  <a:pt x="1727601" y="0"/>
                </a:lnTo>
                <a:lnTo>
                  <a:pt x="1727601" y="1951089"/>
                </a:lnTo>
                <a:lnTo>
                  <a:pt x="0" y="195108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0583966" y="8232986"/>
            <a:ext cx="1828264" cy="1828264"/>
          </a:xfrm>
          <a:custGeom>
            <a:avLst/>
            <a:gdLst/>
            <a:ahLst/>
            <a:cxnLst/>
            <a:rect r="r" b="b" t="t" l="l"/>
            <a:pathLst>
              <a:path h="1828264" w="1828264">
                <a:moveTo>
                  <a:pt x="0" y="0"/>
                </a:moveTo>
                <a:lnTo>
                  <a:pt x="1828264" y="0"/>
                </a:lnTo>
                <a:lnTo>
                  <a:pt x="1828264" y="1828265"/>
                </a:lnTo>
                <a:lnTo>
                  <a:pt x="0" y="1828265"/>
                </a:lnTo>
                <a:lnTo>
                  <a:pt x="0" y="0"/>
                </a:lnTo>
                <a:close/>
              </a:path>
            </a:pathLst>
          </a:custGeom>
          <a:blipFill>
            <a:blip r:embed="rId17"/>
            <a:stretch>
              <a:fillRect l="0" t="0" r="0" b="0"/>
            </a:stretch>
          </a:blipFill>
        </p:spPr>
      </p:sp>
      <p:sp>
        <p:nvSpPr>
          <p:cNvPr name="Freeform 11" id="11"/>
          <p:cNvSpPr/>
          <p:nvPr/>
        </p:nvSpPr>
        <p:spPr>
          <a:xfrm flipH="false" flipV="false" rot="0">
            <a:off x="12821805" y="8232986"/>
            <a:ext cx="3179590" cy="1828264"/>
          </a:xfrm>
          <a:custGeom>
            <a:avLst/>
            <a:gdLst/>
            <a:ahLst/>
            <a:cxnLst/>
            <a:rect r="r" b="b" t="t" l="l"/>
            <a:pathLst>
              <a:path h="1828264" w="3179590">
                <a:moveTo>
                  <a:pt x="0" y="0"/>
                </a:moveTo>
                <a:lnTo>
                  <a:pt x="3179590" y="0"/>
                </a:lnTo>
                <a:lnTo>
                  <a:pt x="3179590" y="1828265"/>
                </a:lnTo>
                <a:lnTo>
                  <a:pt x="0" y="1828265"/>
                </a:lnTo>
                <a:lnTo>
                  <a:pt x="0" y="0"/>
                </a:lnTo>
                <a:close/>
              </a:path>
            </a:pathLst>
          </a:custGeom>
          <a:blipFill>
            <a:blip r:embed="rId18"/>
            <a:stretch>
              <a:fillRect l="0" t="0" r="0" b="0"/>
            </a:stretch>
          </a:blipFill>
        </p:spPr>
      </p:sp>
      <p:sp>
        <p:nvSpPr>
          <p:cNvPr name="TextBox 12" id="12"/>
          <p:cNvSpPr txBox="true"/>
          <p:nvPr/>
        </p:nvSpPr>
        <p:spPr>
          <a:xfrm rot="0">
            <a:off x="1028700" y="962025"/>
            <a:ext cx="3410118" cy="2233173"/>
          </a:xfrm>
          <a:prstGeom prst="rect">
            <a:avLst/>
          </a:prstGeom>
        </p:spPr>
        <p:txBody>
          <a:bodyPr anchor="t" rtlCol="false" tIns="0" lIns="0" bIns="0" rIns="0">
            <a:spAutoFit/>
          </a:bodyPr>
          <a:lstStyle/>
          <a:p>
            <a:pPr>
              <a:lnSpc>
                <a:spcPts val="4486"/>
              </a:lnSpc>
            </a:pPr>
            <a:r>
              <a:rPr lang="en-US" sz="3204">
                <a:solidFill>
                  <a:srgbClr val="7DA03C"/>
                </a:solidFill>
                <a:latin typeface="Tenor Sans"/>
              </a:rPr>
              <a:t>02 Analyse du projet - proposition de valeur</a:t>
            </a:r>
          </a:p>
        </p:txBody>
      </p:sp>
      <p:sp>
        <p:nvSpPr>
          <p:cNvPr name="TextBox 13" id="13"/>
          <p:cNvSpPr txBox="true"/>
          <p:nvPr/>
        </p:nvSpPr>
        <p:spPr>
          <a:xfrm rot="0">
            <a:off x="4438818" y="8232986"/>
            <a:ext cx="2918109" cy="1669154"/>
          </a:xfrm>
          <a:prstGeom prst="rect">
            <a:avLst/>
          </a:prstGeom>
        </p:spPr>
        <p:txBody>
          <a:bodyPr anchor="t" rtlCol="false" tIns="0" lIns="0" bIns="0" rIns="0">
            <a:spAutoFit/>
          </a:bodyPr>
          <a:lstStyle/>
          <a:p>
            <a:pPr>
              <a:lnSpc>
                <a:spcPts val="3050"/>
              </a:lnSpc>
            </a:pPr>
            <a:r>
              <a:rPr lang="en-US" sz="2699">
                <a:solidFill>
                  <a:srgbClr val="FFFFFF"/>
                </a:solidFill>
                <a:latin typeface="Tenor Sans"/>
              </a:rPr>
              <a:t>Collaborateurs :</a:t>
            </a:r>
          </a:p>
          <a:p>
            <a:pPr>
              <a:lnSpc>
                <a:spcPts val="3050"/>
              </a:lnSpc>
            </a:pPr>
          </a:p>
          <a:p>
            <a:pPr>
              <a:lnSpc>
                <a:spcPts val="2372"/>
              </a:lnSpc>
            </a:pPr>
            <a:r>
              <a:rPr lang="en-US" sz="2099">
                <a:solidFill>
                  <a:srgbClr val="FFFFFF"/>
                </a:solidFill>
                <a:latin typeface="Tenor Sans"/>
              </a:rPr>
              <a:t> - biomas.re</a:t>
            </a:r>
          </a:p>
          <a:p>
            <a:pPr>
              <a:lnSpc>
                <a:spcPts val="2372"/>
              </a:lnSpc>
            </a:pPr>
            <a:r>
              <a:rPr lang="en-US" sz="2099">
                <a:solidFill>
                  <a:srgbClr val="FFFFFF"/>
                </a:solidFill>
                <a:latin typeface="Tenor Sans"/>
              </a:rPr>
              <a:t> - madintex-group.com</a:t>
            </a:r>
          </a:p>
          <a:p>
            <a:pPr>
              <a:lnSpc>
                <a:spcPts val="2372"/>
              </a:lnSpc>
              <a:spcBef>
                <a:spcPct val="0"/>
              </a:spcBef>
            </a:pPr>
            <a:r>
              <a:rPr lang="en-US" sz="2099">
                <a:solidFill>
                  <a:srgbClr val="FFFFFF"/>
                </a:solidFill>
                <a:latin typeface="Tenor Sans"/>
              </a:rPr>
              <a:t> - nahabe-group.com</a:t>
            </a:r>
          </a:p>
        </p:txBody>
      </p:sp>
      <p:sp>
        <p:nvSpPr>
          <p:cNvPr name="TextBox 14" id="14"/>
          <p:cNvSpPr txBox="true"/>
          <p:nvPr/>
        </p:nvSpPr>
        <p:spPr>
          <a:xfrm rot="0">
            <a:off x="4495968" y="4571719"/>
            <a:ext cx="11115561" cy="1963635"/>
          </a:xfrm>
          <a:prstGeom prst="rect">
            <a:avLst/>
          </a:prstGeom>
        </p:spPr>
        <p:txBody>
          <a:bodyPr anchor="t" rtlCol="false" tIns="0" lIns="0" bIns="0" rIns="0">
            <a:spAutoFit/>
          </a:bodyPr>
          <a:lstStyle/>
          <a:p>
            <a:pPr>
              <a:lnSpc>
                <a:spcPts val="2610"/>
              </a:lnSpc>
              <a:spcBef>
                <a:spcPct val="0"/>
              </a:spcBef>
            </a:pPr>
            <a:r>
              <a:rPr lang="en-US" sz="2309">
                <a:solidFill>
                  <a:srgbClr val="FFFFFF"/>
                </a:solidFill>
                <a:latin typeface="Tenor Sans"/>
              </a:rPr>
              <a:t>Notre approche vise à impliquer les grands récolteurs et les exportateurs dans un écosystème durable qui valorise les agriculteurs locaux et promeut l'agriculture durable. Nous travaillons en partenariat avec les différents acteurs du secteur pour créer une synergie positive qui profite à tous, tout en contribuant à la préservation de l'environnement et au développement économique des communautés agricoles à Madagascar.</a:t>
            </a:r>
          </a:p>
        </p:txBody>
      </p:sp>
      <p:sp>
        <p:nvSpPr>
          <p:cNvPr name="TextBox 15" id="15"/>
          <p:cNvSpPr txBox="true"/>
          <p:nvPr/>
        </p:nvSpPr>
        <p:spPr>
          <a:xfrm rot="0">
            <a:off x="4495968" y="1646059"/>
            <a:ext cx="13552225" cy="2611335"/>
          </a:xfrm>
          <a:prstGeom prst="rect">
            <a:avLst/>
          </a:prstGeom>
        </p:spPr>
        <p:txBody>
          <a:bodyPr anchor="t" rtlCol="false" tIns="0" lIns="0" bIns="0" rIns="0">
            <a:spAutoFit/>
          </a:bodyPr>
          <a:lstStyle/>
          <a:p>
            <a:pPr>
              <a:lnSpc>
                <a:spcPts val="2610"/>
              </a:lnSpc>
              <a:spcBef>
                <a:spcPct val="0"/>
              </a:spcBef>
            </a:pPr>
            <a:r>
              <a:rPr lang="en-US" sz="2309">
                <a:solidFill>
                  <a:srgbClr val="FFFFFF"/>
                </a:solidFill>
                <a:latin typeface="Tenor Sans"/>
              </a:rPr>
              <a:t>Le projet Fataplus propose une solution novatrice aux défis agricoles à Madagascar, en combinant l'agriculture durable, l'agrotourisme responsable et la sensibilisation communautaire. Notre plateforme en ligne permet aux agriculteurs locaux de promouvoir leurs produits et d'accroître leurs revenus, tout en offrant des expériences uniques pour les visiteurs intéressés par l'agriculture durable. Fataplus est unique sur le marché en offrant une connexion directe entre les agriculteurs locaux et les consommateurs, tout en promouvant l'agriculture durable et l'agrotourisme responsable. Leur approche personnalisée tient compte des particularités agricoles, culturelles et environnementales de Madagascar.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E2714"/>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3410118" cy="547248"/>
          </a:xfrm>
          <a:prstGeom prst="rect">
            <a:avLst/>
          </a:prstGeom>
        </p:spPr>
        <p:txBody>
          <a:bodyPr anchor="t" rtlCol="false" tIns="0" lIns="0" bIns="0" rIns="0">
            <a:spAutoFit/>
          </a:bodyPr>
          <a:lstStyle/>
          <a:p>
            <a:pPr>
              <a:lnSpc>
                <a:spcPts val="4486"/>
              </a:lnSpc>
            </a:pPr>
            <a:r>
              <a:rPr lang="en-US" sz="3204">
                <a:solidFill>
                  <a:srgbClr val="7DA03C"/>
                </a:solidFill>
                <a:latin typeface="Tenor Sans"/>
              </a:rPr>
              <a:t>03 Conclusions</a:t>
            </a:r>
          </a:p>
        </p:txBody>
      </p:sp>
      <p:sp>
        <p:nvSpPr>
          <p:cNvPr name="Freeform 3" id="3"/>
          <p:cNvSpPr/>
          <p:nvPr/>
        </p:nvSpPr>
        <p:spPr>
          <a:xfrm flipH="false" flipV="false" rot="0">
            <a:off x="1534326" y="8799438"/>
            <a:ext cx="1447826" cy="1549230"/>
          </a:xfrm>
          <a:custGeom>
            <a:avLst/>
            <a:gdLst/>
            <a:ahLst/>
            <a:cxnLst/>
            <a:rect r="r" b="b" t="t" l="l"/>
            <a:pathLst>
              <a:path h="1549230" w="1447826">
                <a:moveTo>
                  <a:pt x="0" y="0"/>
                </a:moveTo>
                <a:lnTo>
                  <a:pt x="1447826" y="0"/>
                </a:lnTo>
                <a:lnTo>
                  <a:pt x="1447826" y="1549230"/>
                </a:lnTo>
                <a:lnTo>
                  <a:pt x="0" y="15492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8366334"/>
            <a:ext cx="1553429" cy="1982333"/>
          </a:xfrm>
          <a:custGeom>
            <a:avLst/>
            <a:gdLst/>
            <a:ahLst/>
            <a:cxnLst/>
            <a:rect r="r" b="b" t="t" l="l"/>
            <a:pathLst>
              <a:path h="1982333" w="1553429">
                <a:moveTo>
                  <a:pt x="0" y="0"/>
                </a:moveTo>
                <a:lnTo>
                  <a:pt x="1553429" y="0"/>
                </a:lnTo>
                <a:lnTo>
                  <a:pt x="1553429" y="1982334"/>
                </a:lnTo>
                <a:lnTo>
                  <a:pt x="0" y="19823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3076070" y="8167932"/>
            <a:ext cx="1225177" cy="2180736"/>
          </a:xfrm>
          <a:custGeom>
            <a:avLst/>
            <a:gdLst/>
            <a:ahLst/>
            <a:cxnLst/>
            <a:rect r="r" b="b" t="t" l="l"/>
            <a:pathLst>
              <a:path h="2180736" w="1225177">
                <a:moveTo>
                  <a:pt x="0" y="0"/>
                </a:moveTo>
                <a:lnTo>
                  <a:pt x="1225177" y="0"/>
                </a:lnTo>
                <a:lnTo>
                  <a:pt x="1225177" y="2180736"/>
                </a:lnTo>
                <a:lnTo>
                  <a:pt x="0" y="21807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2050992" y="8159088"/>
            <a:ext cx="414492" cy="828984"/>
          </a:xfrm>
          <a:custGeom>
            <a:avLst/>
            <a:gdLst/>
            <a:ahLst/>
            <a:cxnLst/>
            <a:rect r="r" b="b" t="t" l="l"/>
            <a:pathLst>
              <a:path h="828984" w="414492">
                <a:moveTo>
                  <a:pt x="0" y="0"/>
                </a:moveTo>
                <a:lnTo>
                  <a:pt x="414493" y="0"/>
                </a:lnTo>
                <a:lnTo>
                  <a:pt x="414493" y="828985"/>
                </a:lnTo>
                <a:lnTo>
                  <a:pt x="0" y="828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028700" y="2164275"/>
            <a:ext cx="14081992" cy="5525985"/>
          </a:xfrm>
          <a:prstGeom prst="rect">
            <a:avLst/>
          </a:prstGeom>
        </p:spPr>
        <p:txBody>
          <a:bodyPr anchor="t" rtlCol="false" tIns="0" lIns="0" bIns="0" rIns="0">
            <a:spAutoFit/>
          </a:bodyPr>
          <a:lstStyle/>
          <a:p>
            <a:pPr>
              <a:lnSpc>
                <a:spcPts val="2610"/>
              </a:lnSpc>
            </a:pPr>
            <a:r>
              <a:rPr lang="en-US" sz="2309">
                <a:solidFill>
                  <a:srgbClr val="FFFFFF"/>
                </a:solidFill>
                <a:latin typeface="Tenor Sans"/>
              </a:rPr>
              <a:t>Le projet Fataplus a pour objectif de promouvoir l'agriculture durable et l'agrotourisme responsable à Madagascar. Voici les principaux projets d'avenir de Fataplus :</a:t>
            </a:r>
          </a:p>
          <a:p>
            <a:pPr>
              <a:lnSpc>
                <a:spcPts val="2610"/>
              </a:lnSpc>
            </a:pPr>
          </a:p>
          <a:p>
            <a:pPr marL="498705" indent="-249352" lvl="1">
              <a:lnSpc>
                <a:spcPts val="2610"/>
              </a:lnSpc>
              <a:buFont typeface="Arial"/>
              <a:buChar char="•"/>
            </a:pPr>
            <a:r>
              <a:rPr lang="en-US" sz="2309">
                <a:solidFill>
                  <a:srgbClr val="FFFFFF"/>
                </a:solidFill>
                <a:latin typeface="Tenor Sans"/>
              </a:rPr>
              <a:t>Création d'une communauté agricole durable.</a:t>
            </a:r>
          </a:p>
          <a:p>
            <a:pPr marL="498705" indent="-249352" lvl="1">
              <a:lnSpc>
                <a:spcPts val="2610"/>
              </a:lnSpc>
              <a:buFont typeface="Arial"/>
              <a:buChar char="•"/>
            </a:pPr>
            <a:r>
              <a:rPr lang="en-US" sz="2309">
                <a:solidFill>
                  <a:srgbClr val="FFFFFF"/>
                </a:solidFill>
                <a:latin typeface="Tenor Sans"/>
              </a:rPr>
              <a:t>Promotion de l'agriculture durable.</a:t>
            </a:r>
          </a:p>
          <a:p>
            <a:pPr marL="498705" indent="-249352" lvl="1">
              <a:lnSpc>
                <a:spcPts val="2610"/>
              </a:lnSpc>
              <a:buFont typeface="Arial"/>
              <a:buChar char="•"/>
            </a:pPr>
            <a:r>
              <a:rPr lang="en-US" sz="2309">
                <a:solidFill>
                  <a:srgbClr val="FFFFFF"/>
                </a:solidFill>
                <a:latin typeface="Tenor Sans"/>
              </a:rPr>
              <a:t>Développement de l'agrotourisme.</a:t>
            </a:r>
          </a:p>
          <a:p>
            <a:pPr marL="498705" indent="-249352" lvl="1">
              <a:lnSpc>
                <a:spcPts val="2610"/>
              </a:lnSpc>
              <a:buFont typeface="Arial"/>
              <a:buChar char="•"/>
            </a:pPr>
            <a:r>
              <a:rPr lang="en-US" sz="2309">
                <a:solidFill>
                  <a:srgbClr val="FFFFFF"/>
                </a:solidFill>
                <a:latin typeface="Tenor Sans"/>
              </a:rPr>
              <a:t>Impact économique et social.</a:t>
            </a:r>
          </a:p>
          <a:p>
            <a:pPr marL="498705" indent="-249352" lvl="1">
              <a:lnSpc>
                <a:spcPts val="2610"/>
              </a:lnSpc>
              <a:buFont typeface="Arial"/>
              <a:buChar char="•"/>
            </a:pPr>
            <a:r>
              <a:rPr lang="en-US" sz="2309">
                <a:solidFill>
                  <a:srgbClr val="FFFFFF"/>
                </a:solidFill>
                <a:latin typeface="Tenor Sans"/>
              </a:rPr>
              <a:t>Extension à d'autres régions.</a:t>
            </a:r>
          </a:p>
          <a:p>
            <a:pPr marL="498705" indent="-249352" lvl="1">
              <a:lnSpc>
                <a:spcPts val="2610"/>
              </a:lnSpc>
              <a:buFont typeface="Arial"/>
              <a:buChar char="•"/>
            </a:pPr>
            <a:r>
              <a:rPr lang="en-US" sz="2309">
                <a:solidFill>
                  <a:srgbClr val="FFFFFF"/>
                </a:solidFill>
                <a:latin typeface="Tenor Sans"/>
              </a:rPr>
              <a:t>Partenariats stratégiques.</a:t>
            </a:r>
          </a:p>
          <a:p>
            <a:pPr marL="498705" indent="-249352" lvl="1">
              <a:lnSpc>
                <a:spcPts val="2610"/>
              </a:lnSpc>
              <a:buFont typeface="Arial"/>
              <a:buChar char="•"/>
            </a:pPr>
            <a:r>
              <a:rPr lang="en-US" sz="2309">
                <a:solidFill>
                  <a:srgbClr val="FFFFFF"/>
                </a:solidFill>
                <a:latin typeface="Tenor Sans"/>
              </a:rPr>
              <a:t>Technologie et innovation constante.</a:t>
            </a:r>
          </a:p>
          <a:p>
            <a:pPr marL="498705" indent="-249352" lvl="1">
              <a:lnSpc>
                <a:spcPts val="2610"/>
              </a:lnSpc>
              <a:buFont typeface="Arial"/>
              <a:buChar char="•"/>
            </a:pPr>
            <a:r>
              <a:rPr lang="en-US" sz="2309">
                <a:solidFill>
                  <a:srgbClr val="FFFFFF"/>
                </a:solidFill>
                <a:latin typeface="Tenor Sans"/>
              </a:rPr>
              <a:t>Engagement en faveur du développement durable.</a:t>
            </a:r>
          </a:p>
          <a:p>
            <a:pPr>
              <a:lnSpc>
                <a:spcPts val="2610"/>
              </a:lnSpc>
            </a:pPr>
          </a:p>
          <a:p>
            <a:pPr>
              <a:lnSpc>
                <a:spcPts val="2610"/>
              </a:lnSpc>
            </a:pPr>
            <a:r>
              <a:rPr lang="en-US" sz="2309">
                <a:solidFill>
                  <a:srgbClr val="FFFFFF"/>
                </a:solidFill>
                <a:latin typeface="Tenor Sans"/>
              </a:rPr>
              <a:t>Fataplus s'efforce de créer une communauté prospère d'agriculteurs engagés dans des pratiques durables et offrant des expériences enrichissantes, avec actuellement 35 associations d'agriculteurs et de visiteurs impliqués.</a:t>
            </a:r>
          </a:p>
          <a:p>
            <a:pPr>
              <a:lnSpc>
                <a:spcPts val="2610"/>
              </a:lnSpc>
            </a:pPr>
          </a:p>
          <a:p>
            <a:pPr>
              <a:lnSpc>
                <a:spcPts val="2610"/>
              </a:lnSpc>
            </a:pPr>
            <a:r>
              <a:rPr lang="en-US" sz="2309">
                <a:solidFill>
                  <a:srgbClr val="FFFFFF"/>
                </a:solidFill>
                <a:latin typeface="Tenor Sans"/>
              </a:rPr>
              <a:t>Notre objectif pour les quatre années à venir est d'atteindre vingt millions d'agriculteurs. Nous sommes ravis de faire partie de cette initiative!</a:t>
            </a:r>
          </a:p>
        </p:txBody>
      </p:sp>
      <p:sp>
        <p:nvSpPr>
          <p:cNvPr name="Freeform 8" id="8"/>
          <p:cNvSpPr/>
          <p:nvPr/>
        </p:nvSpPr>
        <p:spPr>
          <a:xfrm flipH="false" flipV="false" rot="0">
            <a:off x="14294582" y="463653"/>
            <a:ext cx="3696461" cy="871728"/>
          </a:xfrm>
          <a:custGeom>
            <a:avLst/>
            <a:gdLst/>
            <a:ahLst/>
            <a:cxnLst/>
            <a:rect r="r" b="b" t="t" l="l"/>
            <a:pathLst>
              <a:path h="871728" w="3696461">
                <a:moveTo>
                  <a:pt x="0" y="0"/>
                </a:moveTo>
                <a:lnTo>
                  <a:pt x="3696461" y="0"/>
                </a:lnTo>
                <a:lnTo>
                  <a:pt x="3696461" y="871728"/>
                </a:lnTo>
                <a:lnTo>
                  <a:pt x="0" y="871728"/>
                </a:lnTo>
                <a:lnTo>
                  <a:pt x="0" y="0"/>
                </a:lnTo>
                <a:close/>
              </a:path>
            </a:pathLst>
          </a:custGeom>
          <a:blipFill>
            <a:blip r:embed="rId10"/>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E2714"/>
        </a:solidFill>
      </p:bgPr>
    </p:bg>
    <p:spTree>
      <p:nvGrpSpPr>
        <p:cNvPr id="1" name=""/>
        <p:cNvGrpSpPr/>
        <p:nvPr/>
      </p:nvGrpSpPr>
      <p:grpSpPr>
        <a:xfrm>
          <a:off x="0" y="0"/>
          <a:ext cx="0" cy="0"/>
          <a:chOff x="0" y="0"/>
          <a:chExt cx="0" cy="0"/>
        </a:xfrm>
      </p:grpSpPr>
      <p:sp>
        <p:nvSpPr>
          <p:cNvPr name="TextBox 2" id="2"/>
          <p:cNvSpPr txBox="true"/>
          <p:nvPr/>
        </p:nvSpPr>
        <p:spPr>
          <a:xfrm rot="0">
            <a:off x="6820142" y="4786058"/>
            <a:ext cx="4725490" cy="730381"/>
          </a:xfrm>
          <a:prstGeom prst="rect">
            <a:avLst/>
          </a:prstGeom>
        </p:spPr>
        <p:txBody>
          <a:bodyPr anchor="t" rtlCol="false" tIns="0" lIns="0" bIns="0" rIns="0">
            <a:spAutoFit/>
          </a:bodyPr>
          <a:lstStyle/>
          <a:p>
            <a:pPr algn="ctr">
              <a:lnSpc>
                <a:spcPts val="5607"/>
              </a:lnSpc>
            </a:pPr>
            <a:r>
              <a:rPr lang="en-US" sz="4962">
                <a:solidFill>
                  <a:srgbClr val="FFFFFF"/>
                </a:solidFill>
                <a:latin typeface="Tenor Sans"/>
              </a:rPr>
              <a:t>Remerciements</a:t>
            </a:r>
          </a:p>
        </p:txBody>
      </p:sp>
      <p:sp>
        <p:nvSpPr>
          <p:cNvPr name="TextBox 3" id="3"/>
          <p:cNvSpPr txBox="true"/>
          <p:nvPr/>
        </p:nvSpPr>
        <p:spPr>
          <a:xfrm rot="0">
            <a:off x="8080695" y="8910362"/>
            <a:ext cx="2212099" cy="344385"/>
          </a:xfrm>
          <a:prstGeom prst="rect">
            <a:avLst/>
          </a:prstGeom>
        </p:spPr>
        <p:txBody>
          <a:bodyPr anchor="t" rtlCol="false" tIns="0" lIns="0" bIns="0" rIns="0">
            <a:spAutoFit/>
          </a:bodyPr>
          <a:lstStyle/>
          <a:p>
            <a:pPr algn="ctr">
              <a:lnSpc>
                <a:spcPts val="2610"/>
              </a:lnSpc>
            </a:pPr>
            <a:r>
              <a:rPr lang="en-US" sz="2309">
                <a:solidFill>
                  <a:srgbClr val="7DA03C"/>
                </a:solidFill>
                <a:latin typeface="Tenor Sans"/>
              </a:rPr>
              <a:t>Fataplus</a:t>
            </a:r>
          </a:p>
        </p:txBody>
      </p:sp>
      <p:sp>
        <p:nvSpPr>
          <p:cNvPr name="TextBox 4" id="4"/>
          <p:cNvSpPr txBox="true"/>
          <p:nvPr/>
        </p:nvSpPr>
        <p:spPr>
          <a:xfrm rot="0">
            <a:off x="8080695" y="1028700"/>
            <a:ext cx="2126611" cy="344385"/>
          </a:xfrm>
          <a:prstGeom prst="rect">
            <a:avLst/>
          </a:prstGeom>
        </p:spPr>
        <p:txBody>
          <a:bodyPr anchor="t" rtlCol="false" tIns="0" lIns="0" bIns="0" rIns="0">
            <a:spAutoFit/>
          </a:bodyPr>
          <a:lstStyle/>
          <a:p>
            <a:pPr algn="ctr">
              <a:lnSpc>
                <a:spcPts val="2610"/>
              </a:lnSpc>
            </a:pPr>
            <a:r>
              <a:rPr lang="en-US" sz="2309">
                <a:solidFill>
                  <a:srgbClr val="7DA03C"/>
                </a:solidFill>
                <a:latin typeface="Tenor Sans"/>
              </a:rPr>
              <a:t>Presentation</a:t>
            </a:r>
          </a:p>
        </p:txBody>
      </p:sp>
      <p:sp>
        <p:nvSpPr>
          <p:cNvPr name="Freeform 5" id="5"/>
          <p:cNvSpPr/>
          <p:nvPr/>
        </p:nvSpPr>
        <p:spPr>
          <a:xfrm flipH="false" flipV="false" rot="0">
            <a:off x="2155896" y="8110162"/>
            <a:ext cx="2034354" cy="2176838"/>
          </a:xfrm>
          <a:custGeom>
            <a:avLst/>
            <a:gdLst/>
            <a:ahLst/>
            <a:cxnLst/>
            <a:rect r="r" b="b" t="t" l="l"/>
            <a:pathLst>
              <a:path h="2176838" w="2034354">
                <a:moveTo>
                  <a:pt x="0" y="0"/>
                </a:moveTo>
                <a:lnTo>
                  <a:pt x="2034354" y="0"/>
                </a:lnTo>
                <a:lnTo>
                  <a:pt x="2034354" y="2176838"/>
                </a:lnTo>
                <a:lnTo>
                  <a:pt x="0" y="2176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041417" y="8110162"/>
            <a:ext cx="2034354" cy="2176838"/>
          </a:xfrm>
          <a:custGeom>
            <a:avLst/>
            <a:gdLst/>
            <a:ahLst/>
            <a:cxnLst/>
            <a:rect r="r" b="b" t="t" l="l"/>
            <a:pathLst>
              <a:path h="2176838" w="2034354">
                <a:moveTo>
                  <a:pt x="0" y="0"/>
                </a:moveTo>
                <a:lnTo>
                  <a:pt x="2034354" y="0"/>
                </a:lnTo>
                <a:lnTo>
                  <a:pt x="2034354" y="2176838"/>
                </a:lnTo>
                <a:lnTo>
                  <a:pt x="0" y="2176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7501604"/>
            <a:ext cx="2182738" cy="2785396"/>
          </a:xfrm>
          <a:custGeom>
            <a:avLst/>
            <a:gdLst/>
            <a:ahLst/>
            <a:cxnLst/>
            <a:rect r="r" b="b" t="t" l="l"/>
            <a:pathLst>
              <a:path h="2785396" w="2182738">
                <a:moveTo>
                  <a:pt x="0" y="0"/>
                </a:moveTo>
                <a:lnTo>
                  <a:pt x="2182738" y="0"/>
                </a:lnTo>
                <a:lnTo>
                  <a:pt x="2182738" y="2785396"/>
                </a:lnTo>
                <a:lnTo>
                  <a:pt x="0" y="2785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075771" y="7501604"/>
            <a:ext cx="2182738" cy="2785396"/>
          </a:xfrm>
          <a:custGeom>
            <a:avLst/>
            <a:gdLst/>
            <a:ahLst/>
            <a:cxnLst/>
            <a:rect r="r" b="b" t="t" l="l"/>
            <a:pathLst>
              <a:path h="2785396" w="2182738">
                <a:moveTo>
                  <a:pt x="0" y="0"/>
                </a:moveTo>
                <a:lnTo>
                  <a:pt x="2182738" y="0"/>
                </a:lnTo>
                <a:lnTo>
                  <a:pt x="2182738" y="2785396"/>
                </a:lnTo>
                <a:lnTo>
                  <a:pt x="0" y="2785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8100" y="2160272"/>
            <a:ext cx="2145187" cy="1443126"/>
          </a:xfrm>
          <a:custGeom>
            <a:avLst/>
            <a:gdLst/>
            <a:ahLst/>
            <a:cxnLst/>
            <a:rect r="r" b="b" t="t" l="l"/>
            <a:pathLst>
              <a:path h="1443126" w="2145187">
                <a:moveTo>
                  <a:pt x="0" y="0"/>
                </a:moveTo>
                <a:lnTo>
                  <a:pt x="2145187" y="0"/>
                </a:lnTo>
                <a:lnTo>
                  <a:pt x="2145187" y="1443126"/>
                </a:lnTo>
                <a:lnTo>
                  <a:pt x="0" y="1443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142813" y="6440720"/>
            <a:ext cx="2145187" cy="1443126"/>
          </a:xfrm>
          <a:custGeom>
            <a:avLst/>
            <a:gdLst/>
            <a:ahLst/>
            <a:cxnLst/>
            <a:rect r="r" b="b" t="t" l="l"/>
            <a:pathLst>
              <a:path h="1443126" w="2145187">
                <a:moveTo>
                  <a:pt x="0" y="0"/>
                </a:moveTo>
                <a:lnTo>
                  <a:pt x="2145187" y="0"/>
                </a:lnTo>
                <a:lnTo>
                  <a:pt x="2145187" y="1443126"/>
                </a:lnTo>
                <a:lnTo>
                  <a:pt x="0" y="1443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0800000">
            <a:off x="18775" y="-190033"/>
            <a:ext cx="2145187" cy="2350305"/>
          </a:xfrm>
          <a:custGeom>
            <a:avLst/>
            <a:gdLst/>
            <a:ahLst/>
            <a:cxnLst/>
            <a:rect r="r" b="b" t="t" l="l"/>
            <a:pathLst>
              <a:path h="2350305" w="2145187">
                <a:moveTo>
                  <a:pt x="0" y="0"/>
                </a:moveTo>
                <a:lnTo>
                  <a:pt x="2145188" y="0"/>
                </a:lnTo>
                <a:lnTo>
                  <a:pt x="2145188" y="2350305"/>
                </a:lnTo>
                <a:lnTo>
                  <a:pt x="0" y="23503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800000">
            <a:off x="16142813" y="7883846"/>
            <a:ext cx="2145187" cy="2350305"/>
          </a:xfrm>
          <a:custGeom>
            <a:avLst/>
            <a:gdLst/>
            <a:ahLst/>
            <a:cxnLst/>
            <a:rect r="r" b="b" t="t" l="l"/>
            <a:pathLst>
              <a:path h="2350305" w="2145187">
                <a:moveTo>
                  <a:pt x="0" y="0"/>
                </a:moveTo>
                <a:lnTo>
                  <a:pt x="2145187" y="0"/>
                </a:lnTo>
                <a:lnTo>
                  <a:pt x="2145187" y="2350305"/>
                </a:lnTo>
                <a:lnTo>
                  <a:pt x="0" y="23503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10800000">
            <a:off x="38100" y="3708173"/>
            <a:ext cx="2071904" cy="3687856"/>
          </a:xfrm>
          <a:custGeom>
            <a:avLst/>
            <a:gdLst/>
            <a:ahLst/>
            <a:cxnLst/>
            <a:rect r="r" b="b" t="t" l="l"/>
            <a:pathLst>
              <a:path h="3687856" w="2071904">
                <a:moveTo>
                  <a:pt x="0" y="0"/>
                </a:moveTo>
                <a:lnTo>
                  <a:pt x="2071904" y="0"/>
                </a:lnTo>
                <a:lnTo>
                  <a:pt x="2071904" y="3687856"/>
                </a:lnTo>
                <a:lnTo>
                  <a:pt x="0" y="36878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6255771" y="2594439"/>
            <a:ext cx="2007059" cy="3846280"/>
          </a:xfrm>
          <a:custGeom>
            <a:avLst/>
            <a:gdLst/>
            <a:ahLst/>
            <a:cxnLst/>
            <a:rect r="r" b="b" t="t" l="l"/>
            <a:pathLst>
              <a:path h="3846280" w="2007059">
                <a:moveTo>
                  <a:pt x="0" y="0"/>
                </a:moveTo>
                <a:lnTo>
                  <a:pt x="2007058" y="0"/>
                </a:lnTo>
                <a:lnTo>
                  <a:pt x="2007058" y="3846281"/>
                </a:lnTo>
                <a:lnTo>
                  <a:pt x="0" y="38462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10800000">
            <a:off x="2189051" y="33544"/>
            <a:ext cx="2001200" cy="1731947"/>
          </a:xfrm>
          <a:custGeom>
            <a:avLst/>
            <a:gdLst/>
            <a:ahLst/>
            <a:cxnLst/>
            <a:rect r="r" b="b" t="t" l="l"/>
            <a:pathLst>
              <a:path h="1731947" w="2001200">
                <a:moveTo>
                  <a:pt x="0" y="0"/>
                </a:moveTo>
                <a:lnTo>
                  <a:pt x="2001199" y="0"/>
                </a:lnTo>
                <a:lnTo>
                  <a:pt x="2001199" y="1731947"/>
                </a:lnTo>
                <a:lnTo>
                  <a:pt x="0" y="173194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5400000">
            <a:off x="2689351" y="1265191"/>
            <a:ext cx="1000600" cy="2001200"/>
          </a:xfrm>
          <a:custGeom>
            <a:avLst/>
            <a:gdLst/>
            <a:ahLst/>
            <a:cxnLst/>
            <a:rect r="r" b="b" t="t" l="l"/>
            <a:pathLst>
              <a:path h="2001200" w="1000600">
                <a:moveTo>
                  <a:pt x="0" y="0"/>
                </a:moveTo>
                <a:lnTo>
                  <a:pt x="1000599" y="0"/>
                </a:lnTo>
                <a:lnTo>
                  <a:pt x="1000599" y="2001200"/>
                </a:lnTo>
                <a:lnTo>
                  <a:pt x="0" y="20012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5400000">
            <a:off x="2881870" y="7210400"/>
            <a:ext cx="582407" cy="1164814"/>
          </a:xfrm>
          <a:custGeom>
            <a:avLst/>
            <a:gdLst/>
            <a:ahLst/>
            <a:cxnLst/>
            <a:rect r="r" b="b" t="t" l="l"/>
            <a:pathLst>
              <a:path h="1164814" w="582407">
                <a:moveTo>
                  <a:pt x="0" y="0"/>
                </a:moveTo>
                <a:lnTo>
                  <a:pt x="582407" y="0"/>
                </a:lnTo>
                <a:lnTo>
                  <a:pt x="582407" y="1164815"/>
                </a:lnTo>
                <a:lnTo>
                  <a:pt x="0" y="116481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5400000">
            <a:off x="12767390" y="7210400"/>
            <a:ext cx="582407" cy="1164814"/>
          </a:xfrm>
          <a:custGeom>
            <a:avLst/>
            <a:gdLst/>
            <a:ahLst/>
            <a:cxnLst/>
            <a:rect r="r" b="b" t="t" l="l"/>
            <a:pathLst>
              <a:path h="1164814" w="582407">
                <a:moveTo>
                  <a:pt x="0" y="0"/>
                </a:moveTo>
                <a:lnTo>
                  <a:pt x="582407" y="0"/>
                </a:lnTo>
                <a:lnTo>
                  <a:pt x="582407" y="1164815"/>
                </a:lnTo>
                <a:lnTo>
                  <a:pt x="0" y="116481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14294582" y="463653"/>
            <a:ext cx="3696461" cy="871728"/>
          </a:xfrm>
          <a:custGeom>
            <a:avLst/>
            <a:gdLst/>
            <a:ahLst/>
            <a:cxnLst/>
            <a:rect r="r" b="b" t="t" l="l"/>
            <a:pathLst>
              <a:path h="871728" w="3696461">
                <a:moveTo>
                  <a:pt x="0" y="0"/>
                </a:moveTo>
                <a:lnTo>
                  <a:pt x="3696461" y="0"/>
                </a:lnTo>
                <a:lnTo>
                  <a:pt x="3696461" y="871728"/>
                </a:lnTo>
                <a:lnTo>
                  <a:pt x="0" y="871728"/>
                </a:lnTo>
                <a:lnTo>
                  <a:pt x="0" y="0"/>
                </a:lnTo>
                <a:close/>
              </a:path>
            </a:pathLst>
          </a:custGeom>
          <a:blipFill>
            <a:blip r:embed="rId18"/>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DAFsL95yab0</dc:identifier>
  <dcterms:modified xsi:type="dcterms:W3CDTF">2011-08-01T06:04:30Z</dcterms:modified>
  <cp:revision>1</cp:revision>
  <dc:title>fataplus</dc:title>
</cp:coreProperties>
</file>